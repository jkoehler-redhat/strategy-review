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33333"/>
                </a:solidFill>
                <a:latin typeface="Calibri"/>
              </a:rPr>
              <a:t>AI Core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CC0000"/>
                </a:solidFill>
                <a:latin typeface="Calibri"/>
              </a:rPr>
              <a:t>Strategy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66666"/>
                </a:solidFill>
                <a:latin typeface="Calibri"/>
              </a:rPr>
              <a:t>June 11, 2026  |  Red Hat OpenShift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66666"/>
                </a:solidFill>
                <a:latin typeface="Calibri"/>
              </a:rPr>
              <a:t>Presented by: Jay Koehler, AICP Engineering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1.  Portfolio Map  </a:t>
            </a:r>
            <a:r>
              <a:rPr sz="1700">
                <a:solidFill>
                  <a:srgbClr val="333333"/>
                </a:solidFill>
                <a:latin typeface="Calibri"/>
              </a:rPr>
              <a:t>— What AICP owns, what we support, and our upgrade investment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2.  Traction  </a:t>
            </a:r>
            <a:r>
              <a:rPr sz="1700">
                <a:solidFill>
                  <a:srgbClr val="333333"/>
                </a:solidFill>
                <a:latin typeface="Calibri"/>
              </a:rPr>
              <a:t>— What we've shipped and what's working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3.  Strategic Opportunities  </a:t>
            </a:r>
            <a:r>
              <a:rPr sz="1700">
                <a:solidFill>
                  <a:srgbClr val="333333"/>
                </a:solidFill>
                <a:latin typeface="Calibri"/>
              </a:rPr>
              <a:t>— Three bets backed by customer data, and what we need from leadership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Format:  </a:t>
            </a:r>
            <a:r>
              <a:rPr sz="1700">
                <a:solidFill>
                  <a:srgbClr val="333333"/>
                </a:solidFill>
                <a:latin typeface="Calibri"/>
              </a:rPr>
              <a:t>~10 min of slides, then 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Portfolio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CCCC"/>
                </a:solidFill>
                <a:latin typeface="Calibri"/>
              </a:rPr>
              <a:t>What AICP owns, what we support, and where we're investing in platform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Owned Roadmap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Portfolio map  ·  Traction  ·  Strategic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170432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Forge (6)</a:t>
            </a:r>
          </a:p>
        </p:txBody>
      </p:sp>
      <p:sp>
        <p:nvSpPr>
          <p:cNvPr id="7" name="Oval 6"/>
          <p:cNvSpPr/>
          <p:nvPr/>
        </p:nvSpPr>
        <p:spPr>
          <a:xfrm>
            <a:off x="438912" y="1655064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Support RHOAI on HCP on OCP Virt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18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10" name="Oval 9"/>
          <p:cNvSpPr/>
          <p:nvPr/>
        </p:nvSpPr>
        <p:spPr>
          <a:xfrm>
            <a:off x="438912" y="2185416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Detect and report on disconnected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" y="2715768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60904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Multi tenancy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791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" y="3246120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91256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DRA Support for Fine-Grained GPU Allocation in RHOAI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09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" y="3776472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2160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Hardware Profiles with Accelerator Type Awareness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" y="4306824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Phase 3: OpenShift AI gitops polishing and refining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143000"/>
            <a:ext cx="347472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1170432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Compass (5)</a:t>
            </a:r>
          </a:p>
        </p:txBody>
      </p:sp>
      <p:sp>
        <p:nvSpPr>
          <p:cNvPr id="25" name="Oval 24"/>
          <p:cNvSpPr/>
          <p:nvPr/>
        </p:nvSpPr>
        <p:spPr>
          <a:xfrm>
            <a:off x="4187952" y="1655064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60020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[ODH Operator] Implement Modular Architecture for ODH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618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28" name="Oval 27"/>
          <p:cNvSpPr/>
          <p:nvPr/>
        </p:nvSpPr>
        <p:spPr>
          <a:xfrm>
            <a:off x="4187952" y="2185416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130552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Phase 2: ODH Ecosystem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1488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3.6</a:t>
            </a:r>
          </a:p>
        </p:txBody>
      </p:sp>
      <p:sp>
        <p:nvSpPr>
          <p:cNvPr id="31" name="Oval 30"/>
          <p:cNvSpPr/>
          <p:nvPr/>
        </p:nvSpPr>
        <p:spPr>
          <a:xfrm>
            <a:off x="4187952" y="2715768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2660904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RHOAI Platform Quality Initiative</a:t>
            </a:r>
          </a:p>
        </p:txBody>
      </p:sp>
      <p:sp>
        <p:nvSpPr>
          <p:cNvPr id="33" name="Oval 32"/>
          <p:cNvSpPr/>
          <p:nvPr/>
        </p:nvSpPr>
        <p:spPr>
          <a:xfrm>
            <a:off x="4187952" y="3246120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3191256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Use AI to automate steps for DP, TP, GA new feature/component onboarding</a:t>
            </a:r>
          </a:p>
        </p:txBody>
      </p:sp>
      <p:sp>
        <p:nvSpPr>
          <p:cNvPr id="35" name="Oval 34"/>
          <p:cNvSpPr/>
          <p:nvPr/>
        </p:nvSpPr>
        <p:spPr>
          <a:xfrm>
            <a:off x="4187952" y="3776472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72160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[Draft] Shared Utilities Library for Module Controllers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1143000"/>
            <a:ext cx="347472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1170432"/>
            <a:ext cx="3328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Heimdall (5)</a:t>
            </a:r>
          </a:p>
        </p:txBody>
      </p:sp>
      <p:sp>
        <p:nvSpPr>
          <p:cNvPr id="39" name="Oval 38"/>
          <p:cNvSpPr/>
          <p:nvPr/>
        </p:nvSpPr>
        <p:spPr>
          <a:xfrm>
            <a:off x="7936992" y="1655064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160020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ODH CI and E2E Test Stability Improvements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39" y="16184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3.4</a:t>
            </a:r>
          </a:p>
        </p:txBody>
      </p:sp>
      <p:sp>
        <p:nvSpPr>
          <p:cNvPr id="42" name="Oval 41"/>
          <p:cNvSpPr/>
          <p:nvPr/>
        </p:nvSpPr>
        <p:spPr>
          <a:xfrm>
            <a:off x="7936992" y="2185416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130552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Automated Upgrade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39" y="21488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45" name="Oval 44"/>
          <p:cNvSpPr/>
          <p:nvPr/>
        </p:nvSpPr>
        <p:spPr>
          <a:xfrm>
            <a:off x="7936992" y="2715768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2660904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OpenShift AI infrastructure workload on infra machineset</a:t>
            </a:r>
          </a:p>
        </p:txBody>
      </p:sp>
      <p:sp>
        <p:nvSpPr>
          <p:cNvPr id="47" name="Oval 46"/>
          <p:cNvSpPr/>
          <p:nvPr/>
        </p:nvSpPr>
        <p:spPr>
          <a:xfrm>
            <a:off x="7936992" y="3246120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3191256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RHOAI support for Ingress / Gateway API sharding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39" y="3209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50" name="Oval 49"/>
          <p:cNvSpPr/>
          <p:nvPr/>
        </p:nvSpPr>
        <p:spPr>
          <a:xfrm>
            <a:off x="7936992" y="3776472"/>
            <a:ext cx="109728" cy="10972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72160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[Openshift-AI] Central TLS Profile consistency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39" y="37398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53" name="Oval 52"/>
          <p:cNvSpPr/>
          <p:nvPr/>
        </p:nvSpPr>
        <p:spPr>
          <a:xfrm>
            <a:off x="7936992" y="4306824"/>
            <a:ext cx="109728" cy="109728"/>
          </a:xfrm>
          <a:prstGeom prst="ellipse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25196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Calibri"/>
              </a:rPr>
              <a:t>TLS / ML-KEM Compliance Program (29 issues)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35639" y="42702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666666"/>
                </a:solidFill>
                <a:latin typeface="Calibri"/>
              </a:rPr>
              <a:t>3.5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● In Progress   ● New/Backlog   ● Review/Release Pending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Platform Support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Portfolio map  ·  Traction  ·  Strategic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33333"/>
                </a:solidFill>
                <a:latin typeface="Calibri"/>
              </a:rPr>
              <a:t>21 support engagements  ·  16 owned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Calibri"/>
              </a:rPr>
              <a:t>Nearly half the AICP portfolio is cross-team support — a capacity and strategic focus tradeoff worth aligning 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Sub-Team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Releases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Representative Example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Forge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3.4, 3.5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Implement request-based autoscaling for llm-d model deployments - TP (3.4 Stable)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Heimdall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Granular RBAC Documentation for All Components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Shared / Unassigned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3.4, 3.5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ODH Security Hardening with AI and other tool use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41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33333"/>
                </a:solidFill>
                <a:latin typeface="Calibri"/>
              </a:rPr>
              <a:t>Nearest-term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07408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RHAISTRAT-1325  </a:t>
            </a:r>
            <a:r>
              <a:rPr sz="1100">
                <a:solidFill>
                  <a:srgbClr val="333333"/>
                </a:solidFill>
                <a:latin typeface="Calibri"/>
              </a:rPr>
              <a:t>Implement request-based autoscaling for llm-d model deployments - TP (3.4 Stable)  ·  Forge  ·  3.4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RHAISTRAT-549  </a:t>
            </a:r>
            <a:r>
              <a:rPr sz="1100">
                <a:solidFill>
                  <a:srgbClr val="333333"/>
                </a:solidFill>
                <a:latin typeface="Calibri"/>
              </a:rPr>
              <a:t>ODH Security Hardening with AI and other tool use  ·  N/A  ·  3.4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RHAISTRAT-1209  </a:t>
            </a:r>
            <a:r>
              <a:rPr sz="1100">
                <a:solidFill>
                  <a:srgbClr val="333333"/>
                </a:solidFill>
                <a:latin typeface="Calibri"/>
              </a:rPr>
              <a:t>Provide Distributed Inference with llm-d on xKS - GA  ·  Forge  ·  3.5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CCCC"/>
                </a:solidFill>
                <a:latin typeface="Calibri"/>
              </a:rPr>
              <a:t>What's shipped, what's working, and where we're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Platform Upgrade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Traction  ·  Strategic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Calibri"/>
              </a:rPr>
              <a:t>RHAISTRAT-1519  ·  Automated Upgrade Validation  ·  Heimdall  ·  3.5  · 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Establishes automated upgrade validation as a release quality gate. Every RHOAI release artifact — nightly, early access, or GA — will execute the supported upgrade matrix, validating both component-owned and cross-component upgrade scenarios so regressions are caught before they reach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33333"/>
                </a:solidFill>
                <a:latin typeface="Calibri"/>
              </a:rPr>
              <a:t>Supporting Engineering  (19 open RHOAIENG issues)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78892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RHOAIENG-67471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Support seamless upgrades between stable releases for rhai-on-xks-chart and rhai-on-openshift-chart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RHOAIENG-65791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Old LLMInferenceServiceConfigs are deleted during operator upgrade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RHOAIENG-65284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Upgrade Pipeline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RHOAIENG-65160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Implement GitHub Actions workflow for OLM upgrade bundle builds in opendatahub-operator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RHOAIENG-65062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Upgrade ordering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RHOAIENG-63122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Kueue upgrade test documentation and handoff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RHOAIENG-63121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Register Kueue upgrade tests in CI 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RHOAIENG-63118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Implement pre/post upgrade tests for Kueue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RHOAIENG-63117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Assess Kueue upgrade test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RHOAIENG-63116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Kueue — Upgrade Test Coverage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RHOAIENG-61879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Upgrade Disconnected Operator Test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Backlog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RHOAIENG-61574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Document route garbage collection behavior on upgrade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What We've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Traction  ·  Strategic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33333"/>
                </a:solidFill>
                <a:latin typeface="Calibri"/>
              </a:rPr>
              <a:t>24 RHAISTRAT items delivered (last 180 days)  ·  68 engineering issues actively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1124712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xKS / Multi-Cloud (5)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RHAISTRAT-1208, RHAISTRAT-1169, RHAISTRAT-963, RHAISTRAT-930 + 1 more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Auth &amp; Gateway (5)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RHAISTRAT-1295, RHAISTRAT-1136, RHAISTRAT-1131, RHAISTRAT-1120 + 1 more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GitOps (2)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RHAISTRAT-1058, RHAISTRAT-551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Observability (4)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RHAISTRAT-841, RHAISTRAT-732, RHAISTRAT-447, RHAISTRAT-362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MaaS Support (2)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RHAISTRAT-1235, RHAISTRAT-730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MLOps (5)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RHAISTRAT-1204, RHAISTRAT-1191, RHAISTRAT-1176, RHAISTRAT-1161 + 1 more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Platform (1)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RHAISTRAT-1373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Strategic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CCCC"/>
                </a:solidFill>
                <a:latin typeface="Calibri"/>
              </a:rPr>
              <a:t>Three bets backed by customer data — and what we need from leadership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Bet 1: Multi-Tenancy in RHOAI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RHAISTRAT-1471  ·  Critical  ·  Forge  ·  3.5  ·  In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The market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RHOAI lacks consistent isolation, resource governance, and tenant lifecycle management — forcing operators to over-provision per tenant or evaluate competing platforms.
Affected customers:
• CCSPs — 20+ Nordic partners (Atea, Advania, Capgemini Finland, CGI, Volvo AB, AI Sweden): multi-tenancy is a prerequisite for commercializing RHOAI-based AI Factory services.
• HPC / Supercomputing — Spain AI Gigafactory, EU AI Continent Action Plan: fair-share GPU scheduling required by grant funding agencies.
• Enterprise — BBVA Garanti, Telenor, Aramco, Nextera, SWIFT: serving 10–50+ internal teams with independent governance, isolation, and chargeback.
Summary
Today, RHOAI lacks consistent isolation, resource governance, and tenant lifecycle management — forcing operators to over-provision per tenant or evaluate competing platforms.
Multi-tenancy is NOT a single feature you toggle on — it is a layered discipline touching namespaces, RBAC, networking, resource management, pod security, and cost allocation. CCSPs, supercomputing centers, research institutions, and enterprises operating RHOAI in a centralized model need multi-tenancy to serve independent teams from a shared platform.
Problem Statement
Depending on the type of customer, there are different patterns of usage and requirements.
Affected Customers
Segment
Need
Model Required
CCSPs  — 20+ Nordic partners (Atea, Advania, Capgemini Finland, CGI Sweden/Finland, Vivicta, Volvo AB, AI Sweden)
Multi-tenancy is a prerequisite for commercializing RHOAI-based AI Factory services
3
HPC /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7432" cy="4937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Why this is ours to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AICP owns this feature. Multi-tenancy is a layered platform discipline — touching namespaces, RBAC, networking, resource management, pod security, and cost allocation. This is squarely in the operator's domain, not any single component.
Competitive gap: Customers migrating from VMware expect the same ease of dynamic resource sharing they had with vSphere — virtual clusters, tenant isolation, and on-demand GPU allocation managed through a single control plane.
Risk: Feature is Critical priority for 3.5 with zero active engineering work started. Without resourcing, this becomes a 3.6 slip — losing named accounts.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Bet 2: GPUaaS / Dynamic Resource Allocation (DRA)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RHAISTRAT-1470  ·  Major  ·  Forge  ·  3.5  ·  In Progress — 3 AICP issues (2 in progress)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The market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Customers with on-premises NVIDIA GPU investments on OpenShift 4.21 need RHOAI components to support DRA so GPU resources can be requested with device-level granularity — fractions, specific attributes, sharing, and multi-device topology.
Today, RHOAI components (KServe, training-operator, notebooks, KubeRay) use the legacy nvidia.com/gpu extended resource model, which only supports whole-GPU allocation.
Business Need (from RHAIRFE-1817)
Refinement doc  https://docs.google.com/document/d/1ETqm7pZlFhDIyTmY1WjXFQc--9fby59c/edit
Summary
Customers with on-premises NVIDIA GPU investments running OpenShift 4.21 need RHOAI components to support Dynamic Resource Allocation (DRA) so that GPU resources can be requested with device-level granularity — fractions, specific attributes, sharing, and multi-device topology. Today, RHOAI components use the legacy  nvidia.com/gpu  extended resource model, which only supports whole-GPU allocation and cannot express the fine-grained requirements that DRA enables.
Problem Statement
RHOAI components (KServe, training-operator, trainer, notebooks, KubeRay) currently request GPU resources via Kubernetes extended resources ( resources.limits["nvidia.com/gpu"] ). This model only allows requesting whole GPUs and cannot express:
• A fraction of a GPU (for smaller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7432" cy="4937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Why this is ours to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AICP owns the DRA integration work. RHOAI components must be updated to emit DRA ResourceClaims in pod specs — enabling GPU fractions, sharing, and multi-device topology through the NVIDIA DRA driver that OCP 4.21 provides.
This is a platform-layer change: once AICP updates component CRDs and pod specs, every downstream workload type (training, inference, notebooks) benefits automatically.
Current state: RHAISTRAT-1470 is In Progress but only 2 AICP engineering issues exist — both in backlog. The STRAT is moving faster than the engineering work beneath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Bet 3: Automated Upgrade Validation as a Release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RHAISTRAT-1519  ·  Blocker  ·  Heimdall  ·  3.5  ·  In Progress — 19 supporting RHOAIENG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The market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RHOAI currently lacks a continuous upgrade quality gate in CI. Upgrade regressions are found late because the migration process still depends on manual steps and limited end-to-end validation.
This is a recurring source of customer-facing issues at GA — components that pass their own tests fail during operator upgrades because cross-component upgrade scenarios are not validated in CI until a release candidate is produced.
Business Need
Establish automated upgrade validation as a release quality gate for RHOAI. Every produced release artifact, whether nightly, early access, or GA, must execute the supported upgrade matrix and validate both component-owned and cross-component upgrade scenarios so regressions are detected early and attributed to the correct team.
RHOAI currently lacks a continuous upgrade quality gate in CI. Upgrade regressions are often found late because the migration process still depends on manual steps and limited end-to-end validation.
This feature introduces upgrade validation as a standard part of every release artifact production. For each supported upgrade path, the system will:
• Deploy a cluster running the pre-upgrade version
• Deploy pre-upgrade component-owned and cross-component scenarios
• Run pre-upgrade checks and prerequisite resolution
• Execute the platform upgrade
• Ru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7432" cy="4937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Calibri"/>
              </a:rPr>
              <a:t>Why this is ours to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333333"/>
                </a:solidFill>
                <a:latin typeface="Calibri"/>
              </a:rPr>
              <a:t>Every produced release artifact — nightly, early access, or GA — will execute the full supported upgrade matrix and validate both component-owned and cross-component upgrade scenarios.
For each supported upgrade path, the system will: deploy a pre-upgrade cluster, run pre-upgrade scenarios, execute the platform upgrade, then validate component and cross-component workloads.
This directly reduces escalations and shortens time-to-resolution for upgrade-related support cases. It also unblocks other teams — once AICP owns the upgrade gate, component teams can own their upgrade validation without manual coordination.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  <a:latin typeface="Calibri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  <a:latin typeface="Calibri"/>
              </a:rPr>
              <a:t>Portfolio map  ·  Traction  ·  Strategic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1.  Multi-Tenancy resourcing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RHAISTRAT-1471 is Critical for 3.5, status: In Progress. Need team capacity assigned to Forge to begin scope definition and delivery.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2.  DRA / GPUaaS engineering alignment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RHAISTRAT-1470 is In Progress strategically but only 3 AICP issues exist (2 in progress). Need engineering investment aligned to product priority.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3.  Upgrade CI infrastructure  </a:t>
            </a:r>
            <a:r>
              <a:rPr sz="1300">
                <a:solidFill>
                  <a:srgbClr val="333333"/>
                </a:solidFill>
                <a:latin typeface="Calibri"/>
              </a:rPr>
              <a:t>RHAISTRAT-1519 (Blocker, Heimdall) requires cluster provisioning infrastructure to run the upgrade matrix in CI. 19 supporting issues open — need platform/infra support.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4.  Blocker escalation  </a:t>
            </a:r>
            <a:r>
              <a:rPr sz="1300">
                <a:solidFill>
                  <a:srgbClr val="333333"/>
                </a:solidFill>
                <a:latin typeface="Calibri"/>
              </a:rPr>
              <a:t>7 blocker-priority and 65 critical issues remain open across AICP. Top: RHOAIENG-67051 (kube-auth-proxy: replace sync.Once with retry), RHOAIENG-67048 (rhai-operator CrashLoopBackOff on xKS — missi), RHOAIENG-65210 (Disabled Kueue validating webhook in next 2.2).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5.  Sub-team triage  </a:t>
            </a:r>
            <a:r>
              <a:rPr sz="1300">
                <a:solidFill>
                  <a:srgbClr val="333333"/>
                </a:solidFill>
                <a:latin typeface="Calibri"/>
              </a:rPr>
              <a:t>17 in-flight issues — including 12 of the TLS compliance epics — have no sub-team label. Need manager review to assign to Forge, Compass, or Heimdall so they appear in reporting and sprint planning.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33333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CC0000"/>
                </a:solidFill>
                <a:latin typeface="Calibri"/>
              </a:rPr>
              <a:t>Open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Calibri"/>
              </a:rPr>
              <a:t>What questions do you have?  Where should we go deeper?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