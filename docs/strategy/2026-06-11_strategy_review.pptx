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333333"/>
                </a:solidFill>
                <a:latin typeface="Calibri"/>
              </a:rPr>
              <a:t>AI Core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>
                <a:solidFill>
                  <a:srgbClr val="CC0000"/>
                </a:solidFill>
                <a:latin typeface="Calibri"/>
              </a:rPr>
              <a:t>Strategy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66666"/>
                </a:solidFill>
                <a:latin typeface="Calibri"/>
              </a:rPr>
              <a:t>June 11, 2026  |  Red Hat OpenShift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666666"/>
                </a:solidFill>
                <a:latin typeface="Calibri"/>
              </a:rPr>
              <a:t>Presented by: Jay Koehler, AICP Engineering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33333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1.  Portfolio Map  </a:t>
            </a:r>
            <a:r>
              <a:rPr sz="1700">
                <a:solidFill>
                  <a:srgbClr val="333333"/>
                </a:solidFill>
                <a:latin typeface="Calibri"/>
              </a:rPr>
              <a:t>— What AICP owns, what we support, and our upgrade investment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2.  Traction  </a:t>
            </a:r>
            <a:r>
              <a:rPr sz="1700">
                <a:solidFill>
                  <a:srgbClr val="333333"/>
                </a:solidFill>
                <a:latin typeface="Calibri"/>
              </a:rPr>
              <a:t>— What we've shipped and what's working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3.  Strategic Opportunities  </a:t>
            </a:r>
            <a:r>
              <a:rPr sz="1700">
                <a:solidFill>
                  <a:srgbClr val="333333"/>
                </a:solidFill>
                <a:latin typeface="Calibri"/>
              </a:rPr>
              <a:t>— Three bets backed by customer data, and what we need from leadership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Format:  </a:t>
            </a:r>
            <a:r>
              <a:rPr sz="1700">
                <a:solidFill>
                  <a:srgbClr val="333333"/>
                </a:solidFill>
                <a:latin typeface="Calibri"/>
              </a:rPr>
              <a:t>~10 min of slides, then open discussion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Portfolio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CCCCCC"/>
                </a:solidFill>
                <a:latin typeface="Calibri"/>
              </a:rPr>
              <a:t>What AICP owns, what we support, and where we're investing in platform quality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33333"/>
                </a:solidFill>
                <a:latin typeface="Calibri"/>
              </a:rPr>
              <a:t>Owned Roadmap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666666"/>
                </a:solidFill>
                <a:latin typeface="Calibri"/>
              </a:rPr>
              <a:t>Portfolio map  ·  Traction  ·  Strategic opportunities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170432"/>
            <a:ext cx="332841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Calibri"/>
              </a:rPr>
              <a:t>Forge (6)</a:t>
            </a:r>
          </a:p>
        </p:txBody>
      </p:sp>
      <p:sp>
        <p:nvSpPr>
          <p:cNvPr id="7" name="Oval 6"/>
          <p:cNvSpPr/>
          <p:nvPr/>
        </p:nvSpPr>
        <p:spPr>
          <a:xfrm>
            <a:off x="438912" y="1655064"/>
            <a:ext cx="109728" cy="109728"/>
          </a:xfrm>
          <a:prstGeom prst="ellipse">
            <a:avLst/>
          </a:prstGeom>
          <a:solidFill>
            <a:srgbClr val="00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00200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Support RHOAI on HCP on OCP Virt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6184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66666"/>
                </a:solidFill>
                <a:latin typeface="Calibri"/>
              </a:rPr>
              <a:t>3.5</a:t>
            </a:r>
          </a:p>
        </p:txBody>
      </p:sp>
      <p:sp>
        <p:nvSpPr>
          <p:cNvPr id="10" name="Oval 9"/>
          <p:cNvSpPr/>
          <p:nvPr/>
        </p:nvSpPr>
        <p:spPr>
          <a:xfrm>
            <a:off x="438912" y="2185416"/>
            <a:ext cx="109728" cy="109728"/>
          </a:xfrm>
          <a:prstGeom prst="ellipse">
            <a:avLst/>
          </a:prstGeom>
          <a:solidFill>
            <a:srgbClr val="00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30552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Detect and report on disconnected 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14884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66666"/>
                </a:solidFill>
                <a:latin typeface="Calibri"/>
              </a:rPr>
              <a:t>3.5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" y="2715768"/>
            <a:ext cx="109728" cy="10972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660904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Multi tenancy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6791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66666"/>
                </a:solidFill>
                <a:latin typeface="Calibri"/>
              </a:rPr>
              <a:t>3.5</a:t>
            </a:r>
          </a:p>
        </p:txBody>
      </p:sp>
      <p:sp>
        <p:nvSpPr>
          <p:cNvPr id="16" name="Oval 15"/>
          <p:cNvSpPr/>
          <p:nvPr/>
        </p:nvSpPr>
        <p:spPr>
          <a:xfrm>
            <a:off x="438912" y="3246120"/>
            <a:ext cx="109728" cy="109728"/>
          </a:xfrm>
          <a:prstGeom prst="ellipse">
            <a:avLst/>
          </a:prstGeom>
          <a:solidFill>
            <a:srgbClr val="00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191256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DRA Support for Fine-Grained GPU Allocation in RHOAI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320954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66666"/>
                </a:solidFill>
                <a:latin typeface="Calibri"/>
              </a:rPr>
              <a:t>3.5</a:t>
            </a:r>
          </a:p>
        </p:txBody>
      </p:sp>
      <p:sp>
        <p:nvSpPr>
          <p:cNvPr id="19" name="Oval 18"/>
          <p:cNvSpPr/>
          <p:nvPr/>
        </p:nvSpPr>
        <p:spPr>
          <a:xfrm>
            <a:off x="438912" y="3776472"/>
            <a:ext cx="109728" cy="10972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721608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Hardware Profiles with Accelerator Type Awareness</a:t>
            </a:r>
          </a:p>
        </p:txBody>
      </p:sp>
      <p:sp>
        <p:nvSpPr>
          <p:cNvPr id="21" name="Oval 20"/>
          <p:cNvSpPr/>
          <p:nvPr/>
        </p:nvSpPr>
        <p:spPr>
          <a:xfrm>
            <a:off x="438912" y="4306824"/>
            <a:ext cx="109728" cy="10972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251960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Phase 3: OpenShift AI gitops polishing and refining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0" y="1143000"/>
            <a:ext cx="347472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87952" y="1170432"/>
            <a:ext cx="332841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Calibri"/>
              </a:rPr>
              <a:t>Compass (5)</a:t>
            </a:r>
          </a:p>
        </p:txBody>
      </p:sp>
      <p:sp>
        <p:nvSpPr>
          <p:cNvPr id="25" name="Oval 24"/>
          <p:cNvSpPr/>
          <p:nvPr/>
        </p:nvSpPr>
        <p:spPr>
          <a:xfrm>
            <a:off x="4187952" y="1655064"/>
            <a:ext cx="109728" cy="109728"/>
          </a:xfrm>
          <a:prstGeom prst="ellipse">
            <a:avLst/>
          </a:prstGeom>
          <a:solidFill>
            <a:srgbClr val="00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1600200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[ODH Operator] Implement Modular Architecture for ODH Operator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16184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66666"/>
                </a:solidFill>
                <a:latin typeface="Calibri"/>
              </a:rPr>
              <a:t>3.5</a:t>
            </a:r>
          </a:p>
        </p:txBody>
      </p:sp>
      <p:sp>
        <p:nvSpPr>
          <p:cNvPr id="28" name="Oval 27"/>
          <p:cNvSpPr/>
          <p:nvPr/>
        </p:nvSpPr>
        <p:spPr>
          <a:xfrm>
            <a:off x="4187952" y="2185416"/>
            <a:ext cx="109728" cy="109728"/>
          </a:xfrm>
          <a:prstGeom prst="ellipse">
            <a:avLst/>
          </a:prstGeom>
          <a:solidFill>
            <a:srgbClr val="00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2130552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Phase 2: ODH Ecosystem Optimization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214884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66666"/>
                </a:solidFill>
                <a:latin typeface="Calibri"/>
              </a:rPr>
              <a:t>3.6</a:t>
            </a:r>
          </a:p>
        </p:txBody>
      </p:sp>
      <p:sp>
        <p:nvSpPr>
          <p:cNvPr id="31" name="Oval 30"/>
          <p:cNvSpPr/>
          <p:nvPr/>
        </p:nvSpPr>
        <p:spPr>
          <a:xfrm>
            <a:off x="4187952" y="2715768"/>
            <a:ext cx="109728" cy="109728"/>
          </a:xfrm>
          <a:prstGeom prst="ellipse">
            <a:avLst/>
          </a:prstGeom>
          <a:solidFill>
            <a:srgbClr val="00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3400" y="2660904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RHOAI Platform Quality Initiative</a:t>
            </a:r>
          </a:p>
        </p:txBody>
      </p:sp>
      <p:sp>
        <p:nvSpPr>
          <p:cNvPr id="33" name="Oval 32"/>
          <p:cNvSpPr/>
          <p:nvPr/>
        </p:nvSpPr>
        <p:spPr>
          <a:xfrm>
            <a:off x="4187952" y="3246120"/>
            <a:ext cx="109728" cy="109728"/>
          </a:xfrm>
          <a:prstGeom prst="ellipse">
            <a:avLst/>
          </a:prstGeom>
          <a:solidFill>
            <a:srgbClr val="00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3400" y="3191256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Use AI to automate steps for DP, TP, GA new feature/component onboarding</a:t>
            </a:r>
          </a:p>
        </p:txBody>
      </p:sp>
      <p:sp>
        <p:nvSpPr>
          <p:cNvPr id="35" name="Oval 34"/>
          <p:cNvSpPr/>
          <p:nvPr/>
        </p:nvSpPr>
        <p:spPr>
          <a:xfrm>
            <a:off x="4187952" y="3776472"/>
            <a:ext cx="109728" cy="109728"/>
          </a:xfrm>
          <a:prstGeom prst="ellipse">
            <a:avLst/>
          </a:prstGeom>
          <a:solidFill>
            <a:srgbClr val="00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3721608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[Draft] Shared Utilities Library for Module Controllers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3840" y="1143000"/>
            <a:ext cx="347472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36992" y="1170432"/>
            <a:ext cx="332841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Calibri"/>
              </a:rPr>
              <a:t>Heimdall (5)</a:t>
            </a:r>
          </a:p>
        </p:txBody>
      </p:sp>
      <p:sp>
        <p:nvSpPr>
          <p:cNvPr id="39" name="Oval 38"/>
          <p:cNvSpPr/>
          <p:nvPr/>
        </p:nvSpPr>
        <p:spPr>
          <a:xfrm>
            <a:off x="7936992" y="1655064"/>
            <a:ext cx="109728" cy="109728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92440" y="1600200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ODH CI and E2E Test Stability Improvements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35639" y="16184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66666"/>
                </a:solidFill>
                <a:latin typeface="Calibri"/>
              </a:rPr>
              <a:t>3.4</a:t>
            </a:r>
          </a:p>
        </p:txBody>
      </p:sp>
      <p:sp>
        <p:nvSpPr>
          <p:cNvPr id="42" name="Oval 41"/>
          <p:cNvSpPr/>
          <p:nvPr/>
        </p:nvSpPr>
        <p:spPr>
          <a:xfrm>
            <a:off x="7936992" y="2185416"/>
            <a:ext cx="109728" cy="109728"/>
          </a:xfrm>
          <a:prstGeom prst="ellipse">
            <a:avLst/>
          </a:prstGeom>
          <a:solidFill>
            <a:srgbClr val="00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92440" y="2130552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Automated Upgrade Validation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35639" y="214884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66666"/>
                </a:solidFill>
                <a:latin typeface="Calibri"/>
              </a:rPr>
              <a:t>3.5</a:t>
            </a:r>
          </a:p>
        </p:txBody>
      </p:sp>
      <p:sp>
        <p:nvSpPr>
          <p:cNvPr id="45" name="Oval 44"/>
          <p:cNvSpPr/>
          <p:nvPr/>
        </p:nvSpPr>
        <p:spPr>
          <a:xfrm>
            <a:off x="7936992" y="2715768"/>
            <a:ext cx="109728" cy="10972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92440" y="2660904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OpenShift AI infrastructure workload on infra machineset</a:t>
            </a:r>
          </a:p>
        </p:txBody>
      </p:sp>
      <p:sp>
        <p:nvSpPr>
          <p:cNvPr id="47" name="Oval 46"/>
          <p:cNvSpPr/>
          <p:nvPr/>
        </p:nvSpPr>
        <p:spPr>
          <a:xfrm>
            <a:off x="7936992" y="3246120"/>
            <a:ext cx="109728" cy="10972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92440" y="3191256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RHOAI support for Ingress / Gateway API sharding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35639" y="320954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66666"/>
                </a:solidFill>
                <a:latin typeface="Calibri"/>
              </a:rPr>
              <a:t>3.5</a:t>
            </a:r>
          </a:p>
        </p:txBody>
      </p:sp>
      <p:sp>
        <p:nvSpPr>
          <p:cNvPr id="50" name="Oval 49"/>
          <p:cNvSpPr/>
          <p:nvPr/>
        </p:nvSpPr>
        <p:spPr>
          <a:xfrm>
            <a:off x="7936992" y="3776472"/>
            <a:ext cx="109728" cy="10972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2440" y="3721608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[Openshift-AI] Central TLS Profile consistency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35639" y="373989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66666"/>
                </a:solidFill>
                <a:latin typeface="Calibri"/>
              </a:rPr>
              <a:t>3.5</a:t>
            </a:r>
          </a:p>
        </p:txBody>
      </p:sp>
      <p:sp>
        <p:nvSpPr>
          <p:cNvPr id="53" name="Oval 52"/>
          <p:cNvSpPr/>
          <p:nvPr/>
        </p:nvSpPr>
        <p:spPr>
          <a:xfrm>
            <a:off x="7936992" y="4306824"/>
            <a:ext cx="109728" cy="109728"/>
          </a:xfrm>
          <a:prstGeom prst="ellipse">
            <a:avLst/>
          </a:prstGeom>
          <a:solidFill>
            <a:srgbClr val="00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92440" y="4251960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Calibri"/>
              </a:rPr>
              <a:t>TLS / ML-KEM Compliance Program (29 issues)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35639" y="427024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66666"/>
                </a:solidFill>
                <a:latin typeface="Calibri"/>
              </a:rPr>
              <a:t>3.5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● In Progress   ● New/Backlog   ● Review/Release Pending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33333"/>
                </a:solidFill>
                <a:latin typeface="Calibri"/>
              </a:rPr>
              <a:t>Platform Support Engagements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666666"/>
                </a:solidFill>
                <a:latin typeface="Calibri"/>
              </a:rPr>
              <a:t>Portfolio map  ·  Traction  ·  Strategic 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333333"/>
                </a:solidFill>
                <a:latin typeface="Calibri"/>
              </a:rPr>
              <a:t>21 support engagements  ·  16 owned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Nearly half the AICP portfolio is cross-team support — a capacity and strategic focus tradeoff worth aligning 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96596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84048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Sub-Team</a:t>
                      </a:r>
                    </a:p>
                  </a:txBody>
                  <a:tcPr anchor="ctr"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Releases</a:t>
                      </a:r>
                    </a:p>
                  </a:txBody>
                  <a:tcPr anchor="ctr"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Representative Example</a:t>
                      </a:r>
                    </a:p>
                  </a:txBody>
                  <a:tcPr anchor="ctr">
                    <a:solidFill>
                      <a:srgbClr val="CC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Forge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3.4, 3.5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Implement request-based autoscaling for llm-d model deployments - TP (3.4 Stable)</a:t>
                      </a:r>
                    </a:p>
                  </a:txBody>
                  <a:tcPr anchor="ctr"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Heimdall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Granular RBAC Documentation for All Components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Shared / Unassigned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3.4, 3.5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ODH Security Hardening with AI and other tool use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416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33333"/>
                </a:solidFill>
                <a:latin typeface="Calibri"/>
              </a:rPr>
              <a:t>Nearest-term commitments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07408"/>
            <a:ext cx="11247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333333"/>
                </a:solidFill>
                <a:latin typeface="Calibri"/>
              </a:rPr>
              <a:t>RHAISTRAT-1325  </a:t>
            </a:r>
            <a:r>
              <a:rPr sz="1100">
                <a:solidFill>
                  <a:srgbClr val="333333"/>
                </a:solidFill>
                <a:latin typeface="Calibri"/>
              </a:rPr>
              <a:t>Implement request-based autoscaling for llm-d model deployments - TP (3.4 Stable)  ·  Forge  ·  3.4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333333"/>
                </a:solidFill>
                <a:latin typeface="Calibri"/>
              </a:rPr>
              <a:t>RHAISTRAT-549  </a:t>
            </a:r>
            <a:r>
              <a:rPr sz="1100">
                <a:solidFill>
                  <a:srgbClr val="333333"/>
                </a:solidFill>
                <a:latin typeface="Calibri"/>
              </a:rPr>
              <a:t>ODH Security Hardening with AI and other tool use  ·  N/A  ·  3.4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333333"/>
                </a:solidFill>
                <a:latin typeface="Calibri"/>
              </a:rPr>
              <a:t>RHAISTRAT-1209  </a:t>
            </a:r>
            <a:r>
              <a:rPr sz="1100">
                <a:solidFill>
                  <a:srgbClr val="333333"/>
                </a:solidFill>
                <a:latin typeface="Calibri"/>
              </a:rPr>
              <a:t>Provide Distributed Inference with llm-d on xKS - GA  ·  Forge  ·  3.5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CCCCCC"/>
                </a:solidFill>
                <a:latin typeface="Calibri"/>
              </a:rPr>
              <a:t>What's shipped, what's working, and where we're investing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33333"/>
                </a:solidFill>
                <a:latin typeface="Calibri"/>
              </a:rPr>
              <a:t>Platform Upgrade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666666"/>
                </a:solidFill>
                <a:latin typeface="Calibri"/>
              </a:rPr>
              <a:t>Traction  ·  Strategic 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CC0000"/>
                </a:solidFill>
                <a:latin typeface="Calibri"/>
              </a:rPr>
              <a:t>RHAISTRAT-1519  ·  Automated Upgrade Validation  ·  Heimdall  ·  3.5  ·  In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333333"/>
                </a:solidFill>
                <a:latin typeface="Calibri"/>
              </a:rPr>
              <a:t>Establishes automated upgrade validation as a release quality gate. Every RHOAI release artifact — nightly, early access, or GA — will execute the supported upgrade matrix, validating both component-owned and cross-component upgrade scenarios so regressions are caught before they reach customers.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33333"/>
                </a:solidFill>
                <a:latin typeface="Calibri"/>
              </a:rPr>
              <a:t>Supporting Engineering  (19 open RHOAIENG issues)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788920"/>
          <a:ext cx="112471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27432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anchor="ctr"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Summary</a:t>
                      </a:r>
                    </a:p>
                  </a:txBody>
                  <a:tcPr anchor="ctr"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>
                    <a:solidFill>
                      <a:srgbClr val="CC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RHOAIENG-67471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Support seamless upgrades between stable releases for rhai-on-xks-chart and rhai-on-openshift-chart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RHOAIENG-65791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Old LLMInferenceServiceConfigs are deleted during operator upgrade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Backlog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RHOAIENG-65284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Upgrade Pipeline Infrastructure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RHOAIENG-65160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Implement GitHub Actions workflow for OLM upgrade bundle builds in opendatahub-operator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RHOAIENG-65062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Upgrade ordering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RHOAIENG-63122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Kueue upgrade test documentation and handoff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Backlog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RHOAIENG-63121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Register Kueue upgrade tests in CI gate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Backlog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RHOAIENG-63118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Implement pre/post upgrade tests for Kueue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Backlog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RHOAIENG-63117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Assess Kueue upgrade test coverage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RHOAIENG-63116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Kueue — Upgrade Test Coverage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RHOAIENG-61879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Upgrade Disconnected Operator Test Cases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Backlog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RHOAIENG-61574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Document route garbage collection behavior on upgrade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33333"/>
                </a:solidFill>
                <a:latin typeface="Calibri"/>
              </a:rPr>
              <a:t>What We've Shipped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666666"/>
                </a:solidFill>
                <a:latin typeface="Calibri"/>
              </a:rPr>
              <a:t>Traction  ·  Strategic 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24 RHAISTRAT items delivered (last 180 days)  ·  68 engineering issues actively in progress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81328"/>
            <a:ext cx="1124712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333333"/>
                </a:solidFill>
                <a:latin typeface="Calibri"/>
              </a:rPr>
              <a:t>xKS / Multi-Cloud (5)  </a:t>
            </a:r>
            <a:r>
              <a:rPr sz="1300">
                <a:solidFill>
                  <a:srgbClr val="333333"/>
                </a:solidFill>
                <a:latin typeface="Calibri"/>
              </a:rPr>
              <a:t>RHAISTRAT-1208, RHAISTRAT-1169, RHAISTRAT-963, RHAISTRAT-930 + 1 more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33333"/>
                </a:solidFill>
                <a:latin typeface="Calibri"/>
              </a:rPr>
              <a:t>Auth &amp; Gateway (5)  </a:t>
            </a:r>
            <a:r>
              <a:rPr sz="1300">
                <a:solidFill>
                  <a:srgbClr val="333333"/>
                </a:solidFill>
                <a:latin typeface="Calibri"/>
              </a:rPr>
              <a:t>RHAISTRAT-1295, RHAISTRAT-1136, RHAISTRAT-1131, RHAISTRAT-1120 + 1 more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33333"/>
                </a:solidFill>
                <a:latin typeface="Calibri"/>
              </a:rPr>
              <a:t>GitOps (2)  </a:t>
            </a:r>
            <a:r>
              <a:rPr sz="1300">
                <a:solidFill>
                  <a:srgbClr val="333333"/>
                </a:solidFill>
                <a:latin typeface="Calibri"/>
              </a:rPr>
              <a:t>RHAISTRAT-1058, RHAISTRAT-551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33333"/>
                </a:solidFill>
                <a:latin typeface="Calibri"/>
              </a:rPr>
              <a:t>Observability (4)  </a:t>
            </a:r>
            <a:r>
              <a:rPr sz="1300">
                <a:solidFill>
                  <a:srgbClr val="333333"/>
                </a:solidFill>
                <a:latin typeface="Calibri"/>
              </a:rPr>
              <a:t>RHAISTRAT-841, RHAISTRAT-732, RHAISTRAT-447, RHAISTRAT-362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33333"/>
                </a:solidFill>
                <a:latin typeface="Calibri"/>
              </a:rPr>
              <a:t>MaaS Support (2)  </a:t>
            </a:r>
            <a:r>
              <a:rPr sz="1300">
                <a:solidFill>
                  <a:srgbClr val="333333"/>
                </a:solidFill>
                <a:latin typeface="Calibri"/>
              </a:rPr>
              <a:t>RHAISTRAT-1235, RHAISTRAT-730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33333"/>
                </a:solidFill>
                <a:latin typeface="Calibri"/>
              </a:rPr>
              <a:t>MLOps (5)  </a:t>
            </a:r>
            <a:r>
              <a:rPr sz="1300">
                <a:solidFill>
                  <a:srgbClr val="333333"/>
                </a:solidFill>
                <a:latin typeface="Calibri"/>
              </a:rPr>
              <a:t>RHAISTRAT-1204, RHAISTRAT-1191, RHAISTRAT-1176, RHAISTRAT-1161 + 1 more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33333"/>
                </a:solidFill>
                <a:latin typeface="Calibri"/>
              </a:rPr>
              <a:t>Platform (1)  </a:t>
            </a:r>
            <a:r>
              <a:rPr sz="1300">
                <a:solidFill>
                  <a:srgbClr val="333333"/>
                </a:solidFill>
                <a:latin typeface="Calibri"/>
              </a:rPr>
              <a:t>RHAISTRAT-1373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Strategic 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CCCCCC"/>
                </a:solidFill>
                <a:latin typeface="Calibri"/>
              </a:rPr>
              <a:t>Three bets backed by customer data — and what we need from leadership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33333"/>
                </a:solidFill>
                <a:latin typeface="Calibri"/>
              </a:rPr>
              <a:t>Bet 1: Multi-Tenancy in RHOAI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666666"/>
                </a:solidFill>
                <a:latin typeface="Calibri"/>
              </a:rPr>
              <a:t>RHAISTRAT-1471  ·  Critical  ·  Forge  ·  3.5  ·  In Progress — 0 active engineering issues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C0000"/>
                </a:solidFill>
                <a:latin typeface="Calibri"/>
              </a:rPr>
              <a:t>The market 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333333"/>
                </a:solidFill>
                <a:latin typeface="Calibri"/>
              </a:rPr>
              <a:t>RHOAI lacks consistent isolation, resource governance, and tenant lifecycle management — forcing operators to over-provision per tenant or evaluate competing platforms.
Affected customers:
• CCSPs — 20+ Nordic partners (Atea, Advania, Capgemini Finland, CGI, Volvo AB, AI Sweden): multi-tenancy is a prerequisite for commercializing RHOAI-based AI Factory services.
• HPC / Supercomputing — Spain AI Gigafactory, EU AI Continent Action Plan: fair-share GPU scheduling required by grant funding agencies.
• Enterprise — BBVA Garanti, Telenor, Aramco, Nextera, SWIFT: serving 10–50+ internal teams with independent governance, isolation, and chargeback.
Summary
Today, RHOAI lacks consistent isolation, resource governance, and tenant lifecycle management — forcing operators to over-provision per tenant or evaluate competing platforms.
Multi-tenancy is NOT a single feature you toggle on — it is a layered discipline touching namespaces, RBAC, networking, resource management, pod security, and cost allocation. CCSPs, supercomputing centers, research institutions, and enterprises operating RHOAI in a centralized model need multi-tenancy to serve independent teams from a shared platform.
Problem Statement
Depending on the type of customer, there are different patterns of usage and requirements.
Affected Customers
Segment
Need
Model Required
CCSPs  — 20+ Nordic partners (Atea, Advania, Capgemini Finland, CGI Sweden/Finland, Vivicta, Volvo AB, AI Sweden)
Multi-tenancy is a prerequisite for commercializing RHOAI-based AI Factory services
3
HPC /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234440"/>
            <a:ext cx="27432" cy="49377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2344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C0000"/>
                </a:solidFill>
                <a:latin typeface="Calibri"/>
              </a:rPr>
              <a:t>Why this is ours to 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6002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333333"/>
                </a:solidFill>
                <a:latin typeface="Calibri"/>
              </a:rPr>
              <a:t>AICP owns this feature. Multi-tenancy is a layered platform discipline — touching namespaces, RBAC, networking, resource management, pod security, and cost allocation. This is squarely in the operator's domain, not any single component.
Competitive gap: Customers migrating from VMware expect the same ease of dynamic resource sharing they had with vSphere — virtual clusters, tenant isolation, and on-demand GPU allocation managed through a single control plane.
Risk: Feature is Critical priority for 3.5 with zero active engineering work started. Without resourcing, this becomes a 3.6 slip — losing named accounts.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33333"/>
                </a:solidFill>
                <a:latin typeface="Calibri"/>
              </a:rPr>
              <a:t>Bet 2: GPUaaS / Dynamic Resource Allocation (DRA)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666666"/>
                </a:solidFill>
                <a:latin typeface="Calibri"/>
              </a:rPr>
              <a:t>RHAISTRAT-1470  ·  Major  ·  Forge  ·  3.5  ·  In Progress — 2 backlog AICP issues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C0000"/>
                </a:solidFill>
                <a:latin typeface="Calibri"/>
              </a:rPr>
              <a:t>The market 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333333"/>
                </a:solidFill>
                <a:latin typeface="Calibri"/>
              </a:rPr>
              <a:t>Customers with on-premises NVIDIA GPU investments on OpenShift 4.21 need RHOAI components to support DRA so GPU resources can be requested with device-level granularity — fractions, specific attributes, sharing, and multi-device topology.
Today, RHOAI components (KServe, training-operator, notebooks, KubeRay) use the legacy nvidia.com/gpu extended resource model, which only supports whole-GPU allocation.
Business Need (from RHAIRFE-1817)
Refinement doc  https://docs.google.com/document/d/1ETqm7pZlFhDIyTmY1WjXFQc--9fby59c/edit
Summary
Customers with on-premises NVIDIA GPU investments running OpenShift 4.21 need RHOAI components to support Dynamic Resource Allocation (DRA) so that GPU resources can be requested with device-level granularity — fractions, specific attributes, sharing, and multi-device topology. Today, RHOAI components use the legacy  nvidia.com/gpu  extended resource model, which only supports whole-GPU allocation and cannot express the fine-grained requirements that DRA enables.
Problem Statement
RHOAI components (KServe, training-operator, trainer, notebooks, KubeRay) currently request GPU resources via Kubernetes extended resources ( resources.limits["nvidia.com/gpu"] ). This model only allows requesting whole GPUs and cannot express:
• A fraction of a GPU (for smaller in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234440"/>
            <a:ext cx="27432" cy="49377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2344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C0000"/>
                </a:solidFill>
                <a:latin typeface="Calibri"/>
              </a:rPr>
              <a:t>Why this is ours to 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6002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333333"/>
                </a:solidFill>
                <a:latin typeface="Calibri"/>
              </a:rPr>
              <a:t>AICP owns the DRA integration work. RHOAI components must be updated to emit DRA ResourceClaims in pod specs — enabling GPU fractions, sharing, and multi-device topology through the NVIDIA DRA driver that OCP 4.21 provides.
This is a platform-layer change: once AICP updates component CRDs and pod specs, every downstream workload type (training, inference, notebooks) benefits automatically.
Current state: RHAISTRAT-1470 is In Progress but only 2 AICP engineering issues exist — both in backlog. The STRAT is moving faster than the engineering work beneath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33333"/>
                </a:solidFill>
                <a:latin typeface="Calibri"/>
              </a:rPr>
              <a:t>Bet 3: Automated Upgrade Validation as a Release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666666"/>
                </a:solidFill>
                <a:latin typeface="Calibri"/>
              </a:rPr>
              <a:t>RHAISTRAT-1519  ·  Heimdall  ·  3.5  ·  In Progress — 9 supporting RHOAIENG issues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C0000"/>
                </a:solidFill>
                <a:latin typeface="Calibri"/>
              </a:rPr>
              <a:t>The market 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333333"/>
                </a:solidFill>
                <a:latin typeface="Calibri"/>
              </a:rPr>
              <a:t>RHOAI currently lacks a continuous upgrade quality gate in CI. Upgrade regressions are found late because the migration process still depends on manual steps and limited end-to-end validation.
This is a recurring source of customer-facing issues at GA — components that pass their own tests fail during operator upgrades because cross-component upgrade scenarios are not validated in CI until a release candidate is produced.
Business Need
Establish automated upgrade validation as a release quality gate for RHOAI. Every produced release artifact, whether nightly, early access, or GA, must execute the supported upgrade matrix and validate both component-owned and cross-component upgrade scenarios so regressions are detected early and attributed to the correct team.
RHOAI currently lacks a continuous upgrade quality gate in CI. Upgrade regressions are often found late because the migration process still depends on manual steps and limited end-to-end validation.
This feature introduces upgrade validation as a standard part of every release artifact production. For each supported upgrade path, the system will:
• Deploy a cluster running the pre-upgrade version
• Deploy pre-upgrade component-owned and cross-component scenarios
• Run pre-upgrade checks and prerequisite resolution
• Execute the platform upgrade
• Ru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234440"/>
            <a:ext cx="27432" cy="49377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2344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C0000"/>
                </a:solidFill>
                <a:latin typeface="Calibri"/>
              </a:rPr>
              <a:t>Why this is ours to 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6002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333333"/>
                </a:solidFill>
                <a:latin typeface="Calibri"/>
              </a:rPr>
              <a:t>Every produced release artifact — nightly, early access, or GA — will execute the full supported upgrade matrix and validate both component-owned and cross-component upgrade scenarios.
For each supported upgrade path, the system will: deploy a pre-upgrade cluster, run pre-upgrade scenarios, execute the platform upgrade, then validate component and cross-component workloads.
This directly reduces escalations and shortens time-to-resolution for upgrade-related support cases. It also unblocks other teams — once AICP owns the upgrade gate, component teams can own their upgrade validation without manual coordination.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33333"/>
                </a:solidFill>
                <a:latin typeface="Calibri"/>
              </a:rPr>
              <a:t>What We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666666"/>
                </a:solidFill>
                <a:latin typeface="Calibri"/>
              </a:rPr>
              <a:t>Portfolio map  ·  Traction  ·  Strategic 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333333"/>
                </a:solidFill>
                <a:latin typeface="Calibri"/>
              </a:rPr>
              <a:t>1.  Multi-Tenancy resourcing  </a:t>
            </a:r>
            <a:r>
              <a:rPr sz="1300">
                <a:solidFill>
                  <a:srgbClr val="333333"/>
                </a:solidFill>
                <a:latin typeface="Calibri"/>
              </a:rPr>
              <a:t>RHAISTRAT-1471 is Critical for 3.5 with zero active engineering. Need team capacity assigned to Forge to begin scope definition and delivery this sprint.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333333"/>
                </a:solidFill>
                <a:latin typeface="Calibri"/>
              </a:rPr>
              <a:t>2.  DRA / GPUaaS engineering alignment  </a:t>
            </a:r>
            <a:r>
              <a:rPr sz="1300">
                <a:solidFill>
                  <a:srgbClr val="333333"/>
                </a:solidFill>
                <a:latin typeface="Calibri"/>
              </a:rPr>
              <a:t>RHAISTRAT-1470 is In Progress strategically but only 2 backlog issues exist in AICP. Need engineering investment aligned to product priority — GPUaaS UX vision is already moving.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333333"/>
                </a:solidFill>
                <a:latin typeface="Calibri"/>
              </a:rPr>
              <a:t>3.  Upgrade CI infrastructure  </a:t>
            </a:r>
            <a:r>
              <a:rPr sz="1300">
                <a:solidFill>
                  <a:srgbClr val="333333"/>
                </a:solidFill>
                <a:latin typeface="Calibri"/>
              </a:rPr>
              <a:t>RHAISTRAT-1519 (Heimdall) requires cluster provisioning infrastructure to run the upgrade matrix in CI. 19 supporting issues in flight — need platform/infra support.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333333"/>
                </a:solidFill>
                <a:latin typeface="Calibri"/>
              </a:rPr>
              <a:t>4.  Blocker escalation  </a:t>
            </a:r>
            <a:r>
              <a:rPr sz="1300">
                <a:solidFill>
                  <a:srgbClr val="333333"/>
                </a:solidFill>
                <a:latin typeface="Calibri"/>
              </a:rPr>
              <a:t>6 blocker-priority and 65 critical issues remain open across AICP. Top: xKS operator CrashLoopBackOff (RHOAIENG-67048), LLM-D Batch Gateway integration (RHOAIENG-63970/63964), FIPS compliance (RHOAIENG-63211).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333333"/>
                </a:solidFill>
                <a:latin typeface="Calibri"/>
              </a:rPr>
              <a:t>5.  Sub-team triage  </a:t>
            </a:r>
            <a:r>
              <a:rPr sz="1300">
                <a:solidFill>
                  <a:srgbClr val="333333"/>
                </a:solidFill>
                <a:latin typeface="Calibri"/>
              </a:rPr>
              <a:t>17 in-flight issues — including 12 of the TLS compliance epics — have no sub-team label. Need manager review to assign to Forge, Compass, or Heimdall so they appear in reporting and sprint planning.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333333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i="0">
                <a:solidFill>
                  <a:srgbClr val="CC0000"/>
                </a:solidFill>
                <a:latin typeface="Calibri"/>
              </a:rPr>
              <a:t>Open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666666"/>
                </a:solidFill>
                <a:latin typeface="Calibri"/>
              </a:rPr>
              <a:t>What questions do you have?  Where should we go deeper?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