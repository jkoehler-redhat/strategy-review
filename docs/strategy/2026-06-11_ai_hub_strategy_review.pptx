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914400"/>
          </a:xfrm>
          <a:prstGeom prst="rect">
            <a:avLst/>
          </a:prstGeom>
          <a:noFill/>
        </p:spPr>
        <p:txBody>
          <a:bodyPr wrap="square">
            <a:spAutoFit/>
          </a:bodyPr>
          <a:lstStyle/>
          <a:p>
            <a:r>
              <a:rPr sz="4400" b="1" i="0">
                <a:solidFill>
                  <a:srgbClr val="333333"/>
                </a:solidFill>
                <a:latin typeface="Calibri"/>
              </a:rPr>
              <a:t>AI Hub</a:t>
            </a:r>
          </a:p>
        </p:txBody>
      </p:sp>
      <p:sp>
        <p:nvSpPr>
          <p:cNvPr id="4" name="TextBox 3"/>
          <p:cNvSpPr txBox="1"/>
          <p:nvPr/>
        </p:nvSpPr>
        <p:spPr>
          <a:xfrm>
            <a:off x="548640" y="2651760"/>
            <a:ext cx="10972800" cy="822960"/>
          </a:xfrm>
          <a:prstGeom prst="rect">
            <a:avLst/>
          </a:prstGeom>
          <a:noFill/>
        </p:spPr>
        <p:txBody>
          <a:bodyPr wrap="square">
            <a:spAutoFit/>
          </a:bodyPr>
          <a:lstStyle/>
          <a:p>
            <a:r>
              <a:rPr sz="3600" b="0" i="0">
                <a:solidFill>
                  <a:srgbClr val="CC0000"/>
                </a:solidFill>
                <a:latin typeface="Calibri"/>
              </a:rPr>
              <a:t>Strategy Review</a:t>
            </a:r>
          </a:p>
        </p:txBody>
      </p:sp>
      <p:sp>
        <p:nvSpPr>
          <p:cNvPr id="5" name="TextBox 4"/>
          <p:cNvSpPr txBox="1"/>
          <p:nvPr/>
        </p:nvSpPr>
        <p:spPr>
          <a:xfrm>
            <a:off x="548640" y="3520440"/>
            <a:ext cx="10972800" cy="457200"/>
          </a:xfrm>
          <a:prstGeom prst="rect">
            <a:avLst/>
          </a:prstGeom>
          <a:noFill/>
        </p:spPr>
        <p:txBody>
          <a:bodyPr wrap="square">
            <a:spAutoFit/>
          </a:bodyPr>
          <a:lstStyle/>
          <a:p>
            <a:r>
              <a:rPr sz="1600" b="0" i="0">
                <a:solidFill>
                  <a:srgbClr val="666666"/>
                </a:solidFill>
                <a:latin typeface="Calibri"/>
              </a:rPr>
              <a:t>June 11, 2026  |  Red Hat OpenShift AI</a:t>
            </a:r>
          </a:p>
        </p:txBody>
      </p:sp>
      <p:sp>
        <p:nvSpPr>
          <p:cNvPr id="6" name="TextBox 5"/>
          <p:cNvSpPr txBox="1"/>
          <p:nvPr/>
        </p:nvSpPr>
        <p:spPr>
          <a:xfrm>
            <a:off x="548640" y="3931920"/>
            <a:ext cx="10972800" cy="365760"/>
          </a:xfrm>
          <a:prstGeom prst="rect">
            <a:avLst/>
          </a:prstGeom>
          <a:noFill/>
        </p:spPr>
        <p:txBody>
          <a:bodyPr wrap="square">
            <a:spAutoFit/>
          </a:bodyPr>
          <a:lstStyle/>
          <a:p>
            <a:r>
              <a:rPr sz="1400" b="0" i="1">
                <a:solidFill>
                  <a:srgbClr val="666666"/>
                </a:solidFill>
                <a:latin typeface="Calibri"/>
              </a:rPr>
              <a:t>Presented by: Jay Koehler, AICP Engineering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Agenda</a:t>
            </a:r>
          </a:p>
        </p:txBody>
      </p:sp>
      <p:sp>
        <p:nvSpPr>
          <p:cNvPr id="4" name="TextBox 3"/>
          <p:cNvSpPr txBox="1"/>
          <p:nvPr/>
        </p:nvSpPr>
        <p:spPr>
          <a:xfrm>
            <a:off x="1371600" y="1371600"/>
            <a:ext cx="9144000" cy="4114800"/>
          </a:xfrm>
          <a:prstGeom prst="rect">
            <a:avLst/>
          </a:prstGeom>
          <a:noFill/>
        </p:spPr>
        <p:txBody>
          <a:bodyPr wrap="square">
            <a:spAutoFit/>
          </a:bodyPr>
          <a:lstStyle/>
          <a:p>
            <a:pPr>
              <a:spcAft>
                <a:spcPts val="1200"/>
              </a:spcAft>
            </a:pPr>
            <a:r>
              <a:rPr sz="1700" b="1">
                <a:solidFill>
                  <a:srgbClr val="333333"/>
                </a:solidFill>
                <a:latin typeface="Calibri"/>
              </a:rPr>
              <a:t>1.  Portfolio Map  </a:t>
            </a:r>
            <a:r>
              <a:rPr sz="1700">
                <a:solidFill>
                  <a:srgbClr val="333333"/>
                </a:solidFill>
                <a:latin typeface="Calibri"/>
              </a:rPr>
              <a:t>— What AI Hub owns and what's in flight</a:t>
            </a:r>
          </a:p>
          <a:p>
            <a:pPr>
              <a:spcAft>
                <a:spcPts val="1200"/>
              </a:spcAft>
            </a:pPr>
            <a:r>
              <a:rPr sz="1700" b="1">
                <a:solidFill>
                  <a:srgbClr val="333333"/>
                </a:solidFill>
                <a:latin typeface="Calibri"/>
              </a:rPr>
              <a:t>2.  Traction  </a:t>
            </a:r>
            <a:r>
              <a:rPr sz="1700">
                <a:solidFill>
                  <a:srgbClr val="333333"/>
                </a:solidFill>
                <a:latin typeface="Calibri"/>
              </a:rPr>
              <a:t>— What we've shipped</a:t>
            </a:r>
          </a:p>
          <a:p>
            <a:pPr>
              <a:spcAft>
                <a:spcPts val="1200"/>
              </a:spcAft>
            </a:pPr>
            <a:r>
              <a:rPr sz="1700" b="1">
                <a:solidFill>
                  <a:srgbClr val="333333"/>
                </a:solidFill>
                <a:latin typeface="Calibri"/>
              </a:rPr>
              <a:t>3.  Strategic Opportunities  </a:t>
            </a:r>
            <a:r>
              <a:rPr sz="1700">
                <a:solidFill>
                  <a:srgbClr val="333333"/>
                </a:solidFill>
                <a:latin typeface="Calibri"/>
              </a:rPr>
              <a:t>— Three bets backed by data, and what we need from leadership</a:t>
            </a:r>
          </a:p>
          <a:p>
            <a:pPr>
              <a:spcAft>
                <a:spcPts val="1200"/>
              </a:spcAft>
            </a:pPr>
            <a:r>
              <a:rPr sz="1700">
                <a:solidFill>
                  <a:srgbClr val="333333"/>
                </a:solidFill>
                <a:latin typeface="Calibri"/>
              </a:rPr>
              <a:t/>
            </a:r>
          </a:p>
          <a:p>
            <a:pPr>
              <a:spcAft>
                <a:spcPts val="1200"/>
              </a:spcAft>
            </a:pPr>
            <a:r>
              <a:rPr sz="1700" b="1">
                <a:solidFill>
                  <a:srgbClr val="333333"/>
                </a:solidFill>
                <a:latin typeface="Calibri"/>
              </a:rPr>
              <a:t>Format:  </a:t>
            </a:r>
            <a:r>
              <a:rPr sz="1700">
                <a:solidFill>
                  <a:srgbClr val="333333"/>
                </a:solidFill>
                <a:latin typeface="Calibri"/>
              </a:rPr>
              <a:t>~10 min of slides, then open 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0"/>
            <a:ext cx="10058400" cy="1097280"/>
          </a:xfrm>
          <a:prstGeom prst="rect">
            <a:avLst/>
          </a:prstGeom>
          <a:noFill/>
        </p:spPr>
        <p:txBody>
          <a:bodyPr wrap="none">
            <a:spAutoFit/>
          </a:bodyPr>
          <a:lstStyle/>
          <a:p>
            <a:r>
              <a:rPr sz="4000" b="1">
                <a:solidFill>
                  <a:srgbClr val="FFFFFF"/>
                </a:solidFill>
                <a:latin typeface="Calibri"/>
              </a:rPr>
              <a:t>Portfolio Map</a:t>
            </a:r>
          </a:p>
        </p:txBody>
      </p:sp>
      <p:sp>
        <p:nvSpPr>
          <p:cNvPr id="5" name="TextBox 4"/>
          <p:cNvSpPr txBox="1"/>
          <p:nvPr/>
        </p:nvSpPr>
        <p:spPr>
          <a:xfrm>
            <a:off x="548640" y="3657600"/>
            <a:ext cx="10058400" cy="548640"/>
          </a:xfrm>
          <a:prstGeom prst="rect">
            <a:avLst/>
          </a:prstGeom>
          <a:noFill/>
        </p:spPr>
        <p:txBody>
          <a:bodyPr wrap="none">
            <a:spAutoFit/>
          </a:bodyPr>
          <a:lstStyle/>
          <a:p>
            <a:r>
              <a:rPr sz="1800">
                <a:solidFill>
                  <a:srgbClr val="CCCCCC"/>
                </a:solidFill>
                <a:latin typeface="Calibri"/>
              </a:rPr>
              <a:t>What AI Hub owns and what's actively in flight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Portfolio Overview</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Portfolio map  ·  Traction  ·  Strategic opportunities</a:t>
            </a:r>
          </a:p>
        </p:txBody>
      </p:sp>
      <p:sp>
        <p:nvSpPr>
          <p:cNvPr id="5" name="TextBox 4"/>
          <p:cNvSpPr txBox="1"/>
          <p:nvPr/>
        </p:nvSpPr>
        <p:spPr>
          <a:xfrm>
            <a:off x="457200" y="1143000"/>
            <a:ext cx="11247120" cy="365760"/>
          </a:xfrm>
          <a:prstGeom prst="rect">
            <a:avLst/>
          </a:prstGeom>
          <a:noFill/>
        </p:spPr>
        <p:txBody>
          <a:bodyPr wrap="square">
            <a:spAutoFit/>
          </a:bodyPr>
          <a:lstStyle/>
          <a:p>
            <a:r>
              <a:rPr sz="1400" b="1" i="0">
                <a:solidFill>
                  <a:srgbClr val="333333"/>
                </a:solidFill>
                <a:latin typeface="Calibri"/>
              </a:rPr>
              <a:t>218 open issues  ·  33 actively in progress  ·  8 blockers  ·  16 critical  ·  10 open CVEs</a:t>
            </a:r>
          </a:p>
        </p:txBody>
      </p:sp>
      <p:sp>
        <p:nvSpPr>
          <p:cNvPr id="6" name="Rectangle 5"/>
          <p:cNvSpPr/>
          <p:nvPr/>
        </p:nvSpPr>
        <p:spPr>
          <a:xfrm>
            <a:off x="457200" y="1572768"/>
            <a:ext cx="1124712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457200" y="1664208"/>
          <a:ext cx="11247120" cy="3456432"/>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384048">
                <a:tc>
                  <a:txBody>
                    <a:bodyPr/>
                    <a:lstStyle/>
                    <a:p>
                      <a:r>
                        <a:rPr b="1" sz="1100">
                          <a:solidFill>
                            <a:srgbClr val="FFFFFF"/>
                          </a:solidFill>
                          <a:latin typeface="Calibri"/>
                        </a:rPr>
                        <a:t>Theme</a:t>
                      </a:r>
                    </a:p>
                  </a:txBody>
                  <a:tcPr anchor="ctr">
                    <a:solidFill>
                      <a:srgbClr val="CC0000"/>
                    </a:solidFill>
                  </a:tcPr>
                </a:tc>
                <a:tc>
                  <a:txBody>
                    <a:bodyPr/>
                    <a:lstStyle/>
                    <a:p>
                      <a:r>
                        <a:rPr b="1" sz="1100">
                          <a:solidFill>
                            <a:srgbClr val="FFFFFF"/>
                          </a:solidFill>
                          <a:latin typeface="Calibri"/>
                        </a:rPr>
                        <a:t>Open</a:t>
                      </a:r>
                    </a:p>
                  </a:txBody>
                  <a:tcPr anchor="ctr">
                    <a:solidFill>
                      <a:srgbClr val="CC0000"/>
                    </a:solidFill>
                  </a:tcPr>
                </a:tc>
                <a:tc>
                  <a:txBody>
                    <a:bodyPr/>
                    <a:lstStyle/>
                    <a:p>
                      <a:r>
                        <a:rPr b="1" sz="1100">
                          <a:solidFill>
                            <a:srgbClr val="FFFFFF"/>
                          </a:solidFill>
                          <a:latin typeface="Calibri"/>
                        </a:rPr>
                        <a:t>In Flight</a:t>
                      </a:r>
                    </a:p>
                  </a:txBody>
                  <a:tcPr anchor="ctr">
                    <a:solidFill>
                      <a:srgbClr val="CC0000"/>
                    </a:solidFill>
                  </a:tcPr>
                </a:tc>
                <a:tc>
                  <a:txBody>
                    <a:bodyPr/>
                    <a:lstStyle/>
                    <a:p>
                      <a:r>
                        <a:rPr b="1" sz="1100">
                          <a:solidFill>
                            <a:srgbClr val="FFFFFF"/>
                          </a:solidFill>
                          <a:latin typeface="Calibri"/>
                        </a:rPr>
                        <a:t>Blockers/Critical</a:t>
                      </a:r>
                    </a:p>
                  </a:txBody>
                  <a:tcPr anchor="ctr">
                    <a:solidFill>
                      <a:srgbClr val="CC0000"/>
                    </a:solidFill>
                  </a:tcPr>
                </a:tc>
                <a:tc>
                  <a:txBody>
                    <a:bodyPr/>
                    <a:lstStyle/>
                    <a:p>
                      <a:r>
                        <a:rPr b="1" sz="1100">
                          <a:solidFill>
                            <a:srgbClr val="FFFFFF"/>
                          </a:solidFill>
                          <a:latin typeface="Calibri"/>
                        </a:rPr>
                        <a:t>Resolved (180d)</a:t>
                      </a:r>
                    </a:p>
                  </a:txBody>
                  <a:tcPr anchor="ctr">
                    <a:solidFill>
                      <a:srgbClr val="CC0000"/>
                    </a:solidFill>
                  </a:tcPr>
                </a:tc>
              </a:tr>
              <a:tr h="384048">
                <a:tc>
                  <a:txBody>
                    <a:bodyPr/>
                    <a:lstStyle/>
                    <a:p>
                      <a:r>
                        <a:rPr sz="1100">
                          <a:solidFill>
                            <a:srgbClr val="333333"/>
                          </a:solidFill>
                          <a:latin typeface="Calibri"/>
                        </a:rPr>
                        <a:t>Model Catalog</a:t>
                      </a:r>
                    </a:p>
                  </a:txBody>
                  <a:tcPr anchor="ctr"/>
                </a:tc>
                <a:tc>
                  <a:txBody>
                    <a:bodyPr/>
                    <a:lstStyle/>
                    <a:p>
                      <a:r>
                        <a:rPr sz="1100">
                          <a:solidFill>
                            <a:srgbClr val="333333"/>
                          </a:solidFill>
                          <a:latin typeface="Calibri"/>
                        </a:rPr>
                        <a:t>50</a:t>
                      </a:r>
                    </a:p>
                  </a:txBody>
                  <a:tcPr anchor="ctr"/>
                </a:tc>
                <a:tc>
                  <a:txBody>
                    <a:bodyPr/>
                    <a:lstStyle/>
                    <a:p>
                      <a:r>
                        <a:rPr sz="1100">
                          <a:solidFill>
                            <a:srgbClr val="333333"/>
                          </a:solidFill>
                          <a:latin typeface="Calibri"/>
                        </a:rPr>
                        <a:t>8</a:t>
                      </a:r>
                    </a:p>
                  </a:txBody>
                  <a:tcPr anchor="ctr"/>
                </a:tc>
                <a:tc>
                  <a:txBody>
                    <a:bodyPr/>
                    <a:lstStyle/>
                    <a:p>
                      <a:r>
                        <a:rPr sz="1100">
                          <a:solidFill>
                            <a:srgbClr val="333333"/>
                          </a:solidFill>
                          <a:latin typeface="Calibri"/>
                        </a:rPr>
                        <a:t>3</a:t>
                      </a:r>
                    </a:p>
                  </a:txBody>
                  <a:tcPr anchor="ctr"/>
                </a:tc>
                <a:tc>
                  <a:txBody>
                    <a:bodyPr/>
                    <a:lstStyle/>
                    <a:p>
                      <a:r>
                        <a:rPr sz="1100">
                          <a:solidFill>
                            <a:srgbClr val="333333"/>
                          </a:solidFill>
                          <a:latin typeface="Calibri"/>
                        </a:rPr>
                        <a:t>145</a:t>
                      </a:r>
                    </a:p>
                  </a:txBody>
                  <a:tcPr anchor="ctr"/>
                </a:tc>
              </a:tr>
              <a:tr h="384048">
                <a:tc>
                  <a:txBody>
                    <a:bodyPr/>
                    <a:lstStyle/>
                    <a:p>
                      <a:r>
                        <a:rPr sz="1100">
                          <a:solidFill>
                            <a:srgbClr val="333333"/>
                          </a:solidFill>
                          <a:latin typeface="Calibri"/>
                        </a:rPr>
                        <a:t>MCP Registry</a:t>
                      </a:r>
                    </a:p>
                  </a:txBody>
                  <a:tcPr anchor="ctr">
                    <a:solidFill>
                      <a:srgbClr val="F2F2F2"/>
                    </a:solidFill>
                  </a:tcPr>
                </a:tc>
                <a:tc>
                  <a:txBody>
                    <a:bodyPr/>
                    <a:lstStyle/>
                    <a:p>
                      <a:r>
                        <a:rPr sz="1100">
                          <a:solidFill>
                            <a:srgbClr val="333333"/>
                          </a:solidFill>
                          <a:latin typeface="Calibri"/>
                        </a:rPr>
                        <a:t>6</a:t>
                      </a:r>
                    </a:p>
                  </a:txBody>
                  <a:tcPr anchor="ctr">
                    <a:solidFill>
                      <a:srgbClr val="F2F2F2"/>
                    </a:solidFill>
                  </a:tcPr>
                </a:tc>
                <a:tc>
                  <a:txBody>
                    <a:bodyPr/>
                    <a:lstStyle/>
                    <a:p>
                      <a:r>
                        <a:rPr sz="1100">
                          <a:solidFill>
                            <a:srgbClr val="333333"/>
                          </a:solidFill>
                          <a:latin typeface="Calibri"/>
                        </a:rPr>
                        <a:t>2</a:t>
                      </a:r>
                    </a:p>
                  </a:txBody>
                  <a:tcPr anchor="ctr">
                    <a:solidFill>
                      <a:srgbClr val="F2F2F2"/>
                    </a:solidFill>
                  </a:tcPr>
                </a:tc>
                <a:tc>
                  <a:txBody>
                    <a:bodyPr/>
                    <a:lstStyle/>
                    <a:p>
                      <a:r>
                        <a:rPr sz="1100">
                          <a:solidFill>
                            <a:srgbClr val="333333"/>
                          </a:solidFill>
                          <a:latin typeface="Calibri"/>
                        </a:rPr>
                        <a:t>0</a:t>
                      </a:r>
                    </a:p>
                  </a:txBody>
                  <a:tcPr anchor="ctr">
                    <a:solidFill>
                      <a:srgbClr val="F2F2F2"/>
                    </a:solidFill>
                  </a:tcPr>
                </a:tc>
                <a:tc>
                  <a:txBody>
                    <a:bodyPr/>
                    <a:lstStyle/>
                    <a:p>
                      <a:r>
                        <a:rPr sz="1100">
                          <a:solidFill>
                            <a:srgbClr val="333333"/>
                          </a:solidFill>
                          <a:latin typeface="Calibri"/>
                        </a:rPr>
                        <a:t>41</a:t>
                      </a:r>
                    </a:p>
                  </a:txBody>
                  <a:tcPr anchor="ctr">
                    <a:solidFill>
                      <a:srgbClr val="F2F2F2"/>
                    </a:solidFill>
                  </a:tcPr>
                </a:tc>
              </a:tr>
              <a:tr h="384048">
                <a:tc>
                  <a:txBody>
                    <a:bodyPr/>
                    <a:lstStyle/>
                    <a:p>
                      <a:r>
                        <a:rPr sz="1100">
                          <a:solidFill>
                            <a:srgbClr val="333333"/>
                          </a:solidFill>
                          <a:latin typeface="Calibri"/>
                        </a:rPr>
                        <a:t>MLflow / Asset Registry</a:t>
                      </a:r>
                    </a:p>
                  </a:txBody>
                  <a:tcPr anchor="ctr"/>
                </a:tc>
                <a:tc>
                  <a:txBody>
                    <a:bodyPr/>
                    <a:lstStyle/>
                    <a:p>
                      <a:r>
                        <a:rPr sz="1100">
                          <a:solidFill>
                            <a:srgbClr val="333333"/>
                          </a:solidFill>
                          <a:latin typeface="Calibri"/>
                        </a:rPr>
                        <a:t>11</a:t>
                      </a:r>
                    </a:p>
                  </a:txBody>
                  <a:tcPr anchor="ctr"/>
                </a:tc>
                <a:tc>
                  <a:txBody>
                    <a:bodyPr/>
                    <a:lstStyle/>
                    <a:p>
                      <a:r>
                        <a:rPr sz="1100">
                          <a:solidFill>
                            <a:srgbClr val="333333"/>
                          </a:solidFill>
                          <a:latin typeface="Calibri"/>
                        </a:rPr>
                        <a:t>2</a:t>
                      </a:r>
                    </a:p>
                  </a:txBody>
                  <a:tcPr anchor="ctr"/>
                </a:tc>
                <a:tc>
                  <a:txBody>
                    <a:bodyPr/>
                    <a:lstStyle/>
                    <a:p>
                      <a:r>
                        <a:rPr sz="1100">
                          <a:solidFill>
                            <a:srgbClr val="333333"/>
                          </a:solidFill>
                          <a:latin typeface="Calibri"/>
                        </a:rPr>
                        <a:t>0</a:t>
                      </a:r>
                    </a:p>
                  </a:txBody>
                  <a:tcPr anchor="ctr"/>
                </a:tc>
                <a:tc>
                  <a:txBody>
                    <a:bodyPr/>
                    <a:lstStyle/>
                    <a:p>
                      <a:r>
                        <a:rPr sz="1100">
                          <a:solidFill>
                            <a:srgbClr val="333333"/>
                          </a:solidFill>
                          <a:latin typeface="Calibri"/>
                        </a:rPr>
                        <a:t>4</a:t>
                      </a:r>
                    </a:p>
                  </a:txBody>
                  <a:tcPr anchor="ctr"/>
                </a:tc>
              </a:tr>
              <a:tr h="384048">
                <a:tc>
                  <a:txBody>
                    <a:bodyPr/>
                    <a:lstStyle/>
                    <a:p>
                      <a:r>
                        <a:rPr sz="1100">
                          <a:solidFill>
                            <a:srgbClr val="333333"/>
                          </a:solidFill>
                          <a:latin typeface="Calibri"/>
                        </a:rPr>
                        <a:t>Bodies of Water</a:t>
                      </a:r>
                    </a:p>
                  </a:txBody>
                  <a:tcPr anchor="ctr">
                    <a:solidFill>
                      <a:srgbClr val="F2F2F2"/>
                    </a:solidFill>
                  </a:tcPr>
                </a:tc>
                <a:tc>
                  <a:txBody>
                    <a:bodyPr/>
                    <a:lstStyle/>
                    <a:p>
                      <a:r>
                        <a:rPr sz="1100">
                          <a:solidFill>
                            <a:srgbClr val="333333"/>
                          </a:solidFill>
                          <a:latin typeface="Calibri"/>
                        </a:rPr>
                        <a:t>10</a:t>
                      </a:r>
                    </a:p>
                  </a:txBody>
                  <a:tcPr anchor="ctr">
                    <a:solidFill>
                      <a:srgbClr val="F2F2F2"/>
                    </a:solidFill>
                  </a:tcPr>
                </a:tc>
                <a:tc>
                  <a:txBody>
                    <a:bodyPr/>
                    <a:lstStyle/>
                    <a:p>
                      <a:r>
                        <a:rPr sz="1100">
                          <a:solidFill>
                            <a:srgbClr val="333333"/>
                          </a:solidFill>
                          <a:latin typeface="Calibri"/>
                        </a:rPr>
                        <a:t>1</a:t>
                      </a:r>
                    </a:p>
                  </a:txBody>
                  <a:tcPr anchor="ctr">
                    <a:solidFill>
                      <a:srgbClr val="F2F2F2"/>
                    </a:solidFill>
                  </a:tcPr>
                </a:tc>
                <a:tc>
                  <a:txBody>
                    <a:bodyPr/>
                    <a:lstStyle/>
                    <a:p>
                      <a:r>
                        <a:rPr sz="1100">
                          <a:solidFill>
                            <a:srgbClr val="333333"/>
                          </a:solidFill>
                          <a:latin typeface="Calibri"/>
                        </a:rPr>
                        <a:t>4</a:t>
                      </a:r>
                    </a:p>
                  </a:txBody>
                  <a:tcPr anchor="ctr">
                    <a:solidFill>
                      <a:srgbClr val="F2F2F2"/>
                    </a:solidFill>
                  </a:tcPr>
                </a:tc>
                <a:tc>
                  <a:txBody>
                    <a:bodyPr/>
                    <a:lstStyle/>
                    <a:p>
                      <a:r>
                        <a:rPr sz="1100">
                          <a:solidFill>
                            <a:srgbClr val="333333"/>
                          </a:solidFill>
                          <a:latin typeface="Calibri"/>
                        </a:rPr>
                        <a:t>22</a:t>
                      </a:r>
                    </a:p>
                  </a:txBody>
                  <a:tcPr anchor="ctr">
                    <a:solidFill>
                      <a:srgbClr val="F2F2F2"/>
                    </a:solidFill>
                  </a:tcPr>
                </a:tc>
              </a:tr>
              <a:tr h="384048">
                <a:tc>
                  <a:txBody>
                    <a:bodyPr/>
                    <a:lstStyle/>
                    <a:p>
                      <a:r>
                        <a:rPr sz="1100">
                          <a:solidFill>
                            <a:srgbClr val="333333"/>
                          </a:solidFill>
                          <a:latin typeface="Calibri"/>
                        </a:rPr>
                        <a:t>Security &amp; CVEs</a:t>
                      </a:r>
                    </a:p>
                  </a:txBody>
                  <a:tcPr anchor="ctr"/>
                </a:tc>
                <a:tc>
                  <a:txBody>
                    <a:bodyPr/>
                    <a:lstStyle/>
                    <a:p>
                      <a:r>
                        <a:rPr sz="1100">
                          <a:solidFill>
                            <a:srgbClr val="333333"/>
                          </a:solidFill>
                          <a:latin typeface="Calibri"/>
                        </a:rPr>
                        <a:t>24</a:t>
                      </a:r>
                    </a:p>
                  </a:txBody>
                  <a:tcPr anchor="ctr"/>
                </a:tc>
                <a:tc>
                  <a:txBody>
                    <a:bodyPr/>
                    <a:lstStyle/>
                    <a:p>
                      <a:r>
                        <a:rPr sz="1100">
                          <a:solidFill>
                            <a:srgbClr val="333333"/>
                          </a:solidFill>
                          <a:latin typeface="Calibri"/>
                        </a:rPr>
                        <a:t>3</a:t>
                      </a:r>
                    </a:p>
                  </a:txBody>
                  <a:tcPr anchor="ctr"/>
                </a:tc>
                <a:tc>
                  <a:txBody>
                    <a:bodyPr/>
                    <a:lstStyle/>
                    <a:p>
                      <a:r>
                        <a:rPr sz="1100">
                          <a:solidFill>
                            <a:srgbClr val="333333"/>
                          </a:solidFill>
                          <a:latin typeface="Calibri"/>
                        </a:rPr>
                        <a:t>0</a:t>
                      </a:r>
                    </a:p>
                  </a:txBody>
                  <a:tcPr anchor="ctr"/>
                </a:tc>
                <a:tc>
                  <a:txBody>
                    <a:bodyPr/>
                    <a:lstStyle/>
                    <a:p>
                      <a:r>
                        <a:rPr sz="1100">
                          <a:solidFill>
                            <a:srgbClr val="333333"/>
                          </a:solidFill>
                          <a:latin typeface="Calibri"/>
                        </a:rPr>
                        <a:t>132</a:t>
                      </a:r>
                    </a:p>
                  </a:txBody>
                  <a:tcPr anchor="ctr"/>
                </a:tc>
              </a:tr>
              <a:tr h="384048">
                <a:tc>
                  <a:txBody>
                    <a:bodyPr/>
                    <a:lstStyle/>
                    <a:p>
                      <a:r>
                        <a:rPr sz="1100">
                          <a:solidFill>
                            <a:srgbClr val="333333"/>
                          </a:solidFill>
                          <a:latin typeface="Calibri"/>
                        </a:rPr>
                        <a:t>Async Upload / OCI</a:t>
                      </a:r>
                    </a:p>
                  </a:txBody>
                  <a:tcPr anchor="ctr">
                    <a:solidFill>
                      <a:srgbClr val="F2F2F2"/>
                    </a:solidFill>
                  </a:tcPr>
                </a:tc>
                <a:tc>
                  <a:txBody>
                    <a:bodyPr/>
                    <a:lstStyle/>
                    <a:p>
                      <a:r>
                        <a:rPr sz="1100">
                          <a:solidFill>
                            <a:srgbClr val="333333"/>
                          </a:solidFill>
                          <a:latin typeface="Calibri"/>
                        </a:rPr>
                        <a:t>16</a:t>
                      </a:r>
                    </a:p>
                  </a:txBody>
                  <a:tcPr anchor="ctr">
                    <a:solidFill>
                      <a:srgbClr val="F2F2F2"/>
                    </a:solidFill>
                  </a:tcPr>
                </a:tc>
                <a:tc>
                  <a:txBody>
                    <a:bodyPr/>
                    <a:lstStyle/>
                    <a:p>
                      <a:r>
                        <a:rPr sz="1100">
                          <a:solidFill>
                            <a:srgbClr val="333333"/>
                          </a:solidFill>
                          <a:latin typeface="Calibri"/>
                        </a:rPr>
                        <a:t>1</a:t>
                      </a:r>
                    </a:p>
                  </a:txBody>
                  <a:tcPr anchor="ctr">
                    <a:solidFill>
                      <a:srgbClr val="F2F2F2"/>
                    </a:solidFill>
                  </a:tcPr>
                </a:tc>
                <a:tc>
                  <a:txBody>
                    <a:bodyPr/>
                    <a:lstStyle/>
                    <a:p>
                      <a:r>
                        <a:rPr sz="1100">
                          <a:solidFill>
                            <a:srgbClr val="333333"/>
                          </a:solidFill>
                          <a:latin typeface="Calibri"/>
                        </a:rPr>
                        <a:t>1</a:t>
                      </a:r>
                    </a:p>
                  </a:txBody>
                  <a:tcPr anchor="ctr">
                    <a:solidFill>
                      <a:srgbClr val="F2F2F2"/>
                    </a:solidFill>
                  </a:tcPr>
                </a:tc>
                <a:tc>
                  <a:txBody>
                    <a:bodyPr/>
                    <a:lstStyle/>
                    <a:p>
                      <a:r>
                        <a:rPr sz="1100">
                          <a:solidFill>
                            <a:srgbClr val="333333"/>
                          </a:solidFill>
                          <a:latin typeface="Calibri"/>
                        </a:rPr>
                        <a:t>17</a:t>
                      </a:r>
                    </a:p>
                  </a:txBody>
                  <a:tcPr anchor="ctr">
                    <a:solidFill>
                      <a:srgbClr val="F2F2F2"/>
                    </a:solidFill>
                  </a:tcPr>
                </a:tc>
              </a:tr>
              <a:tr h="384048">
                <a:tc>
                  <a:txBody>
                    <a:bodyPr/>
                    <a:lstStyle/>
                    <a:p>
                      <a:r>
                        <a:rPr sz="1100">
                          <a:solidFill>
                            <a:srgbClr val="333333"/>
                          </a:solidFill>
                          <a:latin typeface="Calibri"/>
                        </a:rPr>
                        <a:t>Upstream / Community</a:t>
                      </a:r>
                    </a:p>
                  </a:txBody>
                  <a:tcPr anchor="ctr"/>
                </a:tc>
                <a:tc>
                  <a:txBody>
                    <a:bodyPr/>
                    <a:lstStyle/>
                    <a:p>
                      <a:r>
                        <a:rPr sz="1100">
                          <a:solidFill>
                            <a:srgbClr val="333333"/>
                          </a:solidFill>
                          <a:latin typeface="Calibri"/>
                        </a:rPr>
                        <a:t>8</a:t>
                      </a:r>
                    </a:p>
                  </a:txBody>
                  <a:tcPr anchor="ctr"/>
                </a:tc>
                <a:tc>
                  <a:txBody>
                    <a:bodyPr/>
                    <a:lstStyle/>
                    <a:p>
                      <a:r>
                        <a:rPr sz="1100">
                          <a:solidFill>
                            <a:srgbClr val="333333"/>
                          </a:solidFill>
                          <a:latin typeface="Calibri"/>
                        </a:rPr>
                        <a:t>2</a:t>
                      </a:r>
                    </a:p>
                  </a:txBody>
                  <a:tcPr anchor="ctr"/>
                </a:tc>
                <a:tc>
                  <a:txBody>
                    <a:bodyPr/>
                    <a:lstStyle/>
                    <a:p>
                      <a:r>
                        <a:rPr sz="1100">
                          <a:solidFill>
                            <a:srgbClr val="333333"/>
                          </a:solidFill>
                          <a:latin typeface="Calibri"/>
                        </a:rPr>
                        <a:t>0</a:t>
                      </a:r>
                    </a:p>
                  </a:txBody>
                  <a:tcPr anchor="ctr"/>
                </a:tc>
                <a:tc>
                  <a:txBody>
                    <a:bodyPr/>
                    <a:lstStyle/>
                    <a:p>
                      <a:r>
                        <a:rPr sz="1100">
                          <a:solidFill>
                            <a:srgbClr val="333333"/>
                          </a:solidFill>
                          <a:latin typeface="Calibri"/>
                        </a:rPr>
                        <a:t>3</a:t>
                      </a:r>
                    </a:p>
                  </a:txBody>
                  <a:tcPr anchor="ctr"/>
                </a:tc>
              </a:tr>
              <a:tr h="384048">
                <a:tc>
                  <a:txBody>
                    <a:bodyPr/>
                    <a:lstStyle/>
                    <a:p>
                      <a:r>
                        <a:rPr sz="1100">
                          <a:solidFill>
                            <a:srgbClr val="333333"/>
                          </a:solidFill>
                          <a:latin typeface="Calibri"/>
                        </a:rPr>
                        <a:t>Model Registry Core</a:t>
                      </a:r>
                    </a:p>
                  </a:txBody>
                  <a:tcPr anchor="ctr">
                    <a:solidFill>
                      <a:srgbClr val="F2F2F2"/>
                    </a:solidFill>
                  </a:tcPr>
                </a:tc>
                <a:tc>
                  <a:txBody>
                    <a:bodyPr/>
                    <a:lstStyle/>
                    <a:p>
                      <a:r>
                        <a:rPr sz="1100">
                          <a:solidFill>
                            <a:srgbClr val="333333"/>
                          </a:solidFill>
                          <a:latin typeface="Calibri"/>
                        </a:rPr>
                        <a:t>93</a:t>
                      </a:r>
                    </a:p>
                  </a:txBody>
                  <a:tcPr anchor="ctr">
                    <a:solidFill>
                      <a:srgbClr val="F2F2F2"/>
                    </a:solidFill>
                  </a:tcPr>
                </a:tc>
                <a:tc>
                  <a:txBody>
                    <a:bodyPr/>
                    <a:lstStyle/>
                    <a:p>
                      <a:r>
                        <a:rPr sz="1100">
                          <a:solidFill>
                            <a:srgbClr val="333333"/>
                          </a:solidFill>
                          <a:latin typeface="Calibri"/>
                        </a:rPr>
                        <a:t>14</a:t>
                      </a:r>
                    </a:p>
                  </a:txBody>
                  <a:tcPr anchor="ctr">
                    <a:solidFill>
                      <a:srgbClr val="F2F2F2"/>
                    </a:solidFill>
                  </a:tcPr>
                </a:tc>
                <a:tc>
                  <a:txBody>
                    <a:bodyPr/>
                    <a:lstStyle/>
                    <a:p>
                      <a:r>
                        <a:rPr sz="1100">
                          <a:solidFill>
                            <a:srgbClr val="333333"/>
                          </a:solidFill>
                          <a:latin typeface="Calibri"/>
                        </a:rPr>
                        <a:t>16</a:t>
                      </a:r>
                    </a:p>
                  </a:txBody>
                  <a:tcPr anchor="ctr">
                    <a:solidFill>
                      <a:srgbClr val="F2F2F2"/>
                    </a:solidFill>
                  </a:tcPr>
                </a:tc>
                <a:tc>
                  <a:txBody>
                    <a:bodyPr/>
                    <a:lstStyle/>
                    <a:p>
                      <a:r>
                        <a:rPr sz="1100">
                          <a:solidFill>
                            <a:srgbClr val="333333"/>
                          </a:solidFill>
                          <a:latin typeface="Calibri"/>
                        </a:rPr>
                        <a:t>352</a:t>
                      </a:r>
                    </a:p>
                  </a:txBody>
                  <a:tcPr anchor="ctr">
                    <a:solidFill>
                      <a:srgbClr val="F2F2F2"/>
                    </a:solidFill>
                  </a:tcPr>
                </a:tc>
              </a:tr>
            </a:tbl>
          </a:graphicData>
        </a:graphic>
      </p:graphicFrame>
      <p:sp>
        <p:nvSpPr>
          <p:cNvPr id="8" name="TextBox 7"/>
          <p:cNvSpPr txBox="1"/>
          <p:nvPr/>
        </p:nvSpPr>
        <p:spPr>
          <a:xfrm>
            <a:off x="457200" y="6446520"/>
            <a:ext cx="11247120" cy="274320"/>
          </a:xfrm>
          <a:prstGeom prst="rect">
            <a:avLst/>
          </a:prstGeom>
          <a:noFill/>
        </p:spPr>
        <p:txBody>
          <a:bodyPr wrap="square">
            <a:spAutoFit/>
          </a:bodyPr>
          <a:lstStyle/>
          <a:p>
            <a:r>
              <a:rPr sz="1000" b="0" i="1">
                <a:solidFill>
                  <a:srgbClr val="666666"/>
                </a:solidFill>
                <a:latin typeface="Calibri"/>
              </a:rPr>
              <a:t>121 issues have Undefined priority — need triage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What's In Flight</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Portfolio map  ·  Traction  ·  Strategic opportunities</a:t>
            </a:r>
          </a:p>
        </p:txBody>
      </p:sp>
      <p:sp>
        <p:nvSpPr>
          <p:cNvPr id="5" name="TextBox 4"/>
          <p:cNvSpPr txBox="1"/>
          <p:nvPr/>
        </p:nvSpPr>
        <p:spPr>
          <a:xfrm>
            <a:off x="457200" y="1143000"/>
            <a:ext cx="11247120" cy="320040"/>
          </a:xfrm>
          <a:prstGeom prst="rect">
            <a:avLst/>
          </a:prstGeom>
          <a:noFill/>
        </p:spPr>
        <p:txBody>
          <a:bodyPr wrap="square">
            <a:spAutoFit/>
          </a:bodyPr>
          <a:lstStyle/>
          <a:p>
            <a:r>
              <a:rPr sz="1300" b="1" i="0">
                <a:solidFill>
                  <a:srgbClr val="333333"/>
                </a:solidFill>
                <a:latin typeface="Calibri"/>
              </a:rPr>
              <a:t>33 issues actively in progress across 8 themes</a:t>
            </a:r>
          </a:p>
        </p:txBody>
      </p:sp>
      <p:sp>
        <p:nvSpPr>
          <p:cNvPr id="6" name="TextBox 5"/>
          <p:cNvSpPr txBox="1"/>
          <p:nvPr/>
        </p:nvSpPr>
        <p:spPr>
          <a:xfrm>
            <a:off x="457200" y="1554480"/>
            <a:ext cx="11247120" cy="4846320"/>
          </a:xfrm>
          <a:prstGeom prst="rect">
            <a:avLst/>
          </a:prstGeom>
          <a:noFill/>
        </p:spPr>
        <p:txBody>
          <a:bodyPr wrap="square">
            <a:spAutoFit/>
          </a:bodyPr>
          <a:lstStyle/>
          <a:p>
            <a:pPr>
              <a:spcAft>
                <a:spcPts val="800"/>
              </a:spcAft>
            </a:pPr>
            <a:r>
              <a:rPr sz="1200" b="1">
                <a:solidFill>
                  <a:srgbClr val="333333"/>
                </a:solidFill>
                <a:latin typeface="Calibri"/>
              </a:rPr>
              <a:t>Model Catalog (8)  </a:t>
            </a:r>
            <a:r>
              <a:rPr sz="1200">
                <a:solidFill>
                  <a:srgbClr val="333333"/>
                </a:solidFill>
                <a:latin typeface="Calibri"/>
              </a:rPr>
              <a:t>External route returns Connection Refused for ~30s after model-catalog pod restart due to kube-rbac-proxy TLS handshake failures; General Availability - ODH and RHOAI Integrations [AI Hub/Add new model batch to RHOAI 3.5 EA2 catalog (Other)]; Dev Preview - ODH and RHOAI Integrations [AI Hub/Model Catalog export CSV] + 5 more</a:t>
            </a:r>
          </a:p>
          <a:p>
            <a:pPr>
              <a:spcAft>
                <a:spcPts val="800"/>
              </a:spcAft>
            </a:pPr>
            <a:r>
              <a:rPr sz="1200" b="1">
                <a:solidFill>
                  <a:srgbClr val="333333"/>
                </a:solidFill>
                <a:latin typeface="Calibri"/>
              </a:rPr>
              <a:t>MCP Registry (2)  </a:t>
            </a:r>
            <a:r>
              <a:rPr sz="1200">
                <a:solidFill>
                  <a:srgbClr val="333333"/>
                </a:solidFill>
                <a:latin typeface="Calibri"/>
              </a:rPr>
              <a:t>MCP Registry: Add Python SDK functions and MlflowClient methods; MCP Registry: Implement REST client mixin</a:t>
            </a:r>
          </a:p>
          <a:p>
            <a:pPr>
              <a:spcAft>
                <a:spcPts val="800"/>
              </a:spcAft>
            </a:pPr>
            <a:r>
              <a:rPr sz="1200" b="1">
                <a:solidFill>
                  <a:srgbClr val="333333"/>
                </a:solidFill>
                <a:latin typeface="Calibri"/>
              </a:rPr>
              <a:t>MLflow / Asset Registry (2)  </a:t>
            </a:r>
            <a:r>
              <a:rPr sz="1200">
                <a:solidFill>
                  <a:srgbClr val="333333"/>
                </a:solidFill>
                <a:latin typeface="Calibri"/>
              </a:rPr>
              <a:t>TigerTeam: Research feasibility of using mlflow as a central asset registry ; Rebase and Merge MLFlow Tracking Store PR upstream</a:t>
            </a:r>
          </a:p>
          <a:p>
            <a:pPr>
              <a:spcAft>
                <a:spcPts val="800"/>
              </a:spcAft>
            </a:pPr>
            <a:r>
              <a:rPr sz="1200" b="1">
                <a:solidFill>
                  <a:srgbClr val="333333"/>
                </a:solidFill>
                <a:latin typeface="Calibri"/>
              </a:rPr>
              <a:t>Bodies of Water (1)  </a:t>
            </a:r>
            <a:r>
              <a:rPr sz="1200">
                <a:solidFill>
                  <a:srgbClr val="333333"/>
                </a:solidFill>
                <a:latin typeface="Calibri"/>
              </a:rPr>
              <a:t>AI Hub - Bodies of Water Optimization</a:t>
            </a:r>
          </a:p>
          <a:p>
            <a:pPr>
              <a:spcAft>
                <a:spcPts val="800"/>
              </a:spcAft>
            </a:pPr>
            <a:r>
              <a:rPr sz="1200" b="1">
                <a:solidFill>
                  <a:srgbClr val="333333"/>
                </a:solidFill>
                <a:latin typeface="Calibri"/>
              </a:rPr>
              <a:t>Security &amp; CVEs (3)  </a:t>
            </a:r>
            <a:r>
              <a:rPr sz="1200">
                <a:solidFill>
                  <a:srgbClr val="333333"/>
                </a:solidFill>
                <a:latin typeface="Calibri"/>
              </a:rPr>
              <a:t>CVE-2026-44432 rhoai/odh-model-registry-job-async-upload-rhel9: urllib3: Denial of Service due to excessive HTTP response decompression [rhoai-3.3]; CVE-2026-44432 rhoai/odh-model-registry-job-async-upload-rhel9: urllib3: Denial of Service due to excessive HTTP response decompression [rhoai-2.25]; CVE-2025-61729 rhoai/odh-model-registry-operator-rhel9: Excessive resource consumption when printing error string for host certificate validation in crypto/x509 [rhoai-2.25]</a:t>
            </a:r>
          </a:p>
          <a:p>
            <a:pPr>
              <a:spcAft>
                <a:spcPts val="800"/>
              </a:spcAft>
            </a:pPr>
            <a:r>
              <a:rPr sz="1200" b="1">
                <a:solidFill>
                  <a:srgbClr val="333333"/>
                </a:solidFill>
                <a:latin typeface="Calibri"/>
              </a:rPr>
              <a:t>Async Upload / OCI (1)  </a:t>
            </a:r>
            <a:r>
              <a:rPr sz="1200">
                <a:solidFill>
                  <a:srgbClr val="333333"/>
                </a:solidFill>
                <a:latin typeface="Calibri"/>
              </a:rPr>
              <a:t>OMLMD OCI image push</a:t>
            </a:r>
          </a:p>
          <a:p>
            <a:pPr>
              <a:spcAft>
                <a:spcPts val="800"/>
              </a:spcAft>
            </a:pPr>
            <a:r>
              <a:rPr sz="1200" b="1">
                <a:solidFill>
                  <a:srgbClr val="333333"/>
                </a:solidFill>
                <a:latin typeface="Calibri"/>
              </a:rPr>
              <a:t>Upstream / Community (2)  </a:t>
            </a:r>
            <a:r>
              <a:rPr sz="1200">
                <a:solidFill>
                  <a:srgbClr val="333333"/>
                </a:solidFill>
                <a:latin typeface="Calibri"/>
              </a:rPr>
              <a:t>Kubeflow Graduation Activites; Model Registry mlmd RBAC and tenancy inititation</a:t>
            </a:r>
          </a:p>
          <a:p>
            <a:pPr>
              <a:spcAft>
                <a:spcPts val="800"/>
              </a:spcAft>
            </a:pPr>
            <a:r>
              <a:rPr sz="1200" b="1">
                <a:solidFill>
                  <a:srgbClr val="333333"/>
                </a:solidFill>
                <a:latin typeface="Calibri"/>
              </a:rPr>
              <a:t>Model Registry Core (14)  </a:t>
            </a:r>
            <a:r>
              <a:rPr sz="1200">
                <a:solidFill>
                  <a:srgbClr val="333333"/>
                </a:solidFill>
                <a:latin typeface="Calibri"/>
              </a:rPr>
              <a:t>/readyz reports healthy when leader election is failing due to database unavailability; Dev - Model Registry finalizer deadlock: InferenceService stuck in Terminating when ModelRegistry is deleted first; Add loader for security-evaluations.ndjson metrics files + 11 more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0"/>
            <a:ext cx="10058400" cy="1097280"/>
          </a:xfrm>
          <a:prstGeom prst="rect">
            <a:avLst/>
          </a:prstGeom>
          <a:noFill/>
        </p:spPr>
        <p:txBody>
          <a:bodyPr wrap="none">
            <a:spAutoFit/>
          </a:bodyPr>
          <a:lstStyle/>
          <a:p>
            <a:r>
              <a:rPr sz="4000" b="1">
                <a:solidFill>
                  <a:srgbClr val="FFFFFF"/>
                </a:solidFill>
                <a:latin typeface="Calibri"/>
              </a:rPr>
              <a:t>Traction</a:t>
            </a:r>
          </a:p>
        </p:txBody>
      </p:sp>
      <p:sp>
        <p:nvSpPr>
          <p:cNvPr id="5" name="TextBox 4"/>
          <p:cNvSpPr txBox="1"/>
          <p:nvPr/>
        </p:nvSpPr>
        <p:spPr>
          <a:xfrm>
            <a:off x="548640" y="3657600"/>
            <a:ext cx="10058400" cy="548640"/>
          </a:xfrm>
          <a:prstGeom prst="rect">
            <a:avLst/>
          </a:prstGeom>
          <a:noFill/>
        </p:spPr>
        <p:txBody>
          <a:bodyPr wrap="none">
            <a:spAutoFit/>
          </a:bodyPr>
          <a:lstStyle/>
          <a:p>
            <a:r>
              <a:rPr sz="1800">
                <a:solidFill>
                  <a:srgbClr val="CCCCCC"/>
                </a:solidFill>
                <a:latin typeface="Calibri"/>
              </a:rPr>
              <a:t>What's shipped in the last 6 months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What We've Shipped</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Traction  ·  Strategic opportunities</a:t>
            </a:r>
          </a:p>
        </p:txBody>
      </p:sp>
      <p:sp>
        <p:nvSpPr>
          <p:cNvPr id="5" name="TextBox 4"/>
          <p:cNvSpPr txBox="1"/>
          <p:nvPr/>
        </p:nvSpPr>
        <p:spPr>
          <a:xfrm>
            <a:off x="457200" y="1143000"/>
            <a:ext cx="11247120" cy="320040"/>
          </a:xfrm>
          <a:prstGeom prst="rect">
            <a:avLst/>
          </a:prstGeom>
          <a:noFill/>
        </p:spPr>
        <p:txBody>
          <a:bodyPr wrap="square">
            <a:spAutoFit/>
          </a:bodyPr>
          <a:lstStyle/>
          <a:p>
            <a:r>
              <a:rPr sz="1300" b="1" i="0">
                <a:solidFill>
                  <a:srgbClr val="333333"/>
                </a:solidFill>
                <a:latin typeface="Calibri"/>
              </a:rPr>
              <a:t>716 issues resolved in the last 180 days</a:t>
            </a:r>
          </a:p>
        </p:txBody>
      </p:sp>
      <p:sp>
        <p:nvSpPr>
          <p:cNvPr id="6" name="Rectangle 5"/>
          <p:cNvSpPr/>
          <p:nvPr/>
        </p:nvSpPr>
        <p:spPr>
          <a:xfrm>
            <a:off x="457200" y="1508760"/>
            <a:ext cx="1124712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00200"/>
            <a:ext cx="11247120" cy="4846320"/>
          </a:xfrm>
          <a:prstGeom prst="rect">
            <a:avLst/>
          </a:prstGeom>
          <a:noFill/>
        </p:spPr>
        <p:txBody>
          <a:bodyPr wrap="square">
            <a:spAutoFit/>
          </a:bodyPr>
          <a:lstStyle/>
          <a:p>
            <a:pPr>
              <a:spcAft>
                <a:spcPts val="800"/>
              </a:spcAft>
            </a:pPr>
            <a:r>
              <a:rPr sz="1300" b="1">
                <a:solidFill>
                  <a:srgbClr val="333333"/>
                </a:solidFill>
                <a:latin typeface="Calibri"/>
              </a:rPr>
              <a:t>Model Catalog (145)  </a:t>
            </a:r>
            <a:r>
              <a:rPr sz="1300">
                <a:solidFill>
                  <a:srgbClr val="333333"/>
                </a:solidFill>
                <a:latin typeface="Calibri"/>
              </a:rPr>
              <a:t>RHOAIENG-66140, RHOAIENG-65792, RHOAIENG-65506, RHOAIENG-64847 + 141 more</a:t>
            </a:r>
          </a:p>
          <a:p>
            <a:pPr>
              <a:spcAft>
                <a:spcPts val="800"/>
              </a:spcAft>
            </a:pPr>
            <a:r>
              <a:rPr sz="1300" b="1">
                <a:solidFill>
                  <a:srgbClr val="333333"/>
                </a:solidFill>
                <a:latin typeface="Calibri"/>
              </a:rPr>
              <a:t>MCP Registry (41)  </a:t>
            </a:r>
            <a:r>
              <a:rPr sz="1300">
                <a:solidFill>
                  <a:srgbClr val="333333"/>
                </a:solidFill>
                <a:latin typeface="Calibri"/>
              </a:rPr>
              <a:t>RHOAIENG-66932, RHOAIENG-63417, RHOAIENG-63416, RHOAIENG-63415 + 37 more</a:t>
            </a:r>
          </a:p>
          <a:p>
            <a:pPr>
              <a:spcAft>
                <a:spcPts val="800"/>
              </a:spcAft>
            </a:pPr>
            <a:r>
              <a:rPr sz="1300" b="1">
                <a:solidFill>
                  <a:srgbClr val="333333"/>
                </a:solidFill>
                <a:latin typeface="Calibri"/>
              </a:rPr>
              <a:t>MLflow / Asset Registry (4)  </a:t>
            </a:r>
            <a:r>
              <a:rPr sz="1300">
                <a:solidFill>
                  <a:srgbClr val="333333"/>
                </a:solidFill>
                <a:latin typeface="Calibri"/>
              </a:rPr>
              <a:t>RHOAIENG-57264, RHOAIENG-50708, RHOAIENG-50707, RHOAIENG-49039</a:t>
            </a:r>
          </a:p>
          <a:p>
            <a:pPr>
              <a:spcAft>
                <a:spcPts val="800"/>
              </a:spcAft>
            </a:pPr>
            <a:r>
              <a:rPr sz="1300" b="1">
                <a:solidFill>
                  <a:srgbClr val="333333"/>
                </a:solidFill>
                <a:latin typeface="Calibri"/>
              </a:rPr>
              <a:t>Bodies of Water (22)  </a:t>
            </a:r>
            <a:r>
              <a:rPr sz="1300">
                <a:solidFill>
                  <a:srgbClr val="333333"/>
                </a:solidFill>
                <a:latin typeface="Calibri"/>
              </a:rPr>
              <a:t>RHOAIENG-57834, RHOAIENG-52181, RHOAIENG-51558, RHOAIENG-48804 + 18 more</a:t>
            </a:r>
          </a:p>
          <a:p>
            <a:pPr>
              <a:spcAft>
                <a:spcPts val="800"/>
              </a:spcAft>
            </a:pPr>
            <a:r>
              <a:rPr sz="1300" b="1">
                <a:solidFill>
                  <a:srgbClr val="333333"/>
                </a:solidFill>
                <a:latin typeface="Calibri"/>
              </a:rPr>
              <a:t>Security &amp; CVEs (132)  </a:t>
            </a:r>
            <a:r>
              <a:rPr sz="1300">
                <a:solidFill>
                  <a:srgbClr val="333333"/>
                </a:solidFill>
                <a:latin typeface="Calibri"/>
              </a:rPr>
              <a:t>RHOAIENG-67970, RHOAIENG-66865, RHOAIENG-66586, RHOAIENG-66100 + 128 more</a:t>
            </a:r>
          </a:p>
          <a:p>
            <a:pPr>
              <a:spcAft>
                <a:spcPts val="800"/>
              </a:spcAft>
            </a:pPr>
            <a:r>
              <a:rPr sz="1300" b="1">
                <a:solidFill>
                  <a:srgbClr val="333333"/>
                </a:solidFill>
                <a:latin typeface="Calibri"/>
              </a:rPr>
              <a:t>Async Upload / OCI (17)  </a:t>
            </a:r>
            <a:r>
              <a:rPr sz="1300">
                <a:solidFill>
                  <a:srgbClr val="333333"/>
                </a:solidFill>
                <a:latin typeface="Calibri"/>
              </a:rPr>
              <a:t>RHOAIENG-61234, RHOAIENG-58733, RHOAIENG-58624, RHOAIENG-56329 + 13 more</a:t>
            </a:r>
          </a:p>
          <a:p>
            <a:pPr>
              <a:spcAft>
                <a:spcPts val="800"/>
              </a:spcAft>
            </a:pPr>
            <a:r>
              <a:rPr sz="1300" b="1">
                <a:solidFill>
                  <a:srgbClr val="333333"/>
                </a:solidFill>
                <a:latin typeface="Calibri"/>
              </a:rPr>
              <a:t>Upstream / Community (3)  </a:t>
            </a:r>
            <a:r>
              <a:rPr sz="1300">
                <a:solidFill>
                  <a:srgbClr val="333333"/>
                </a:solidFill>
                <a:latin typeface="Calibri"/>
              </a:rPr>
              <a:t>RHOAIENG-48802, RHOAIENG-40542, RHOAIENG-10409</a:t>
            </a:r>
          </a:p>
          <a:p>
            <a:pPr>
              <a:spcAft>
                <a:spcPts val="800"/>
              </a:spcAft>
            </a:pPr>
            <a:r>
              <a:rPr sz="1300" b="1">
                <a:solidFill>
                  <a:srgbClr val="333333"/>
                </a:solidFill>
                <a:latin typeface="Calibri"/>
              </a:rPr>
              <a:t>Model Registry Core (352)  </a:t>
            </a:r>
            <a:r>
              <a:rPr sz="1300">
                <a:solidFill>
                  <a:srgbClr val="333333"/>
                </a:solidFill>
                <a:latin typeface="Calibri"/>
              </a:rPr>
              <a:t>RHOAIENG-67923, RHOAIENG-66936, RHOAIENG-66882, RHOAIENG-66458 + 348 more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0"/>
            <a:ext cx="10058400" cy="1097280"/>
          </a:xfrm>
          <a:prstGeom prst="rect">
            <a:avLst/>
          </a:prstGeom>
          <a:noFill/>
        </p:spPr>
        <p:txBody>
          <a:bodyPr wrap="none">
            <a:spAutoFit/>
          </a:bodyPr>
          <a:lstStyle/>
          <a:p>
            <a:r>
              <a:rPr sz="4000" b="1">
                <a:solidFill>
                  <a:srgbClr val="FFFFFF"/>
                </a:solidFill>
                <a:latin typeface="Calibri"/>
              </a:rPr>
              <a:t>Strategic Opportunities</a:t>
            </a:r>
          </a:p>
        </p:txBody>
      </p:sp>
      <p:sp>
        <p:nvSpPr>
          <p:cNvPr id="5" name="TextBox 4"/>
          <p:cNvSpPr txBox="1"/>
          <p:nvPr/>
        </p:nvSpPr>
        <p:spPr>
          <a:xfrm>
            <a:off x="548640" y="3657600"/>
            <a:ext cx="10058400" cy="548640"/>
          </a:xfrm>
          <a:prstGeom prst="rect">
            <a:avLst/>
          </a:prstGeom>
          <a:noFill/>
        </p:spPr>
        <p:txBody>
          <a:bodyPr wrap="none">
            <a:spAutoFit/>
          </a:bodyPr>
          <a:lstStyle/>
          <a:p>
            <a:r>
              <a:rPr sz="1800">
                <a:solidFill>
                  <a:srgbClr val="CCCCCC"/>
                </a:solidFill>
                <a:latin typeface="Calibri"/>
              </a:rPr>
              <a:t>Three bets backed by data — and what we need from leadership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Bet 1: MLflow as the Unified AI Asset Registry</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RHOAIENG-50747  ·  Tiger Team  ·  In Progress</a:t>
            </a:r>
          </a:p>
        </p:txBody>
      </p:sp>
      <p:sp>
        <p:nvSpPr>
          <p:cNvPr id="5" name="Rectangle 4"/>
          <p:cNvSpPr/>
          <p:nvPr/>
        </p:nvSpPr>
        <p:spPr>
          <a:xfrm>
            <a:off x="548640" y="1143000"/>
            <a:ext cx="1106424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5212080" cy="365760"/>
          </a:xfrm>
          <a:prstGeom prst="rect">
            <a:avLst/>
          </a:prstGeom>
          <a:noFill/>
        </p:spPr>
        <p:txBody>
          <a:bodyPr wrap="square">
            <a:spAutoFit/>
          </a:bodyPr>
          <a:lstStyle/>
          <a:p>
            <a:r>
              <a:rPr sz="1300" b="1" i="0">
                <a:solidFill>
                  <a:srgbClr val="CC0000"/>
                </a:solidFill>
                <a:latin typeface="Calibri"/>
              </a:rPr>
              <a:t>The market signal</a:t>
            </a:r>
          </a:p>
        </p:txBody>
      </p:sp>
      <p:sp>
        <p:nvSpPr>
          <p:cNvPr id="7" name="TextBox 6"/>
          <p:cNvSpPr txBox="1"/>
          <p:nvPr/>
        </p:nvSpPr>
        <p:spPr>
          <a:xfrm>
            <a:off x="548640" y="1600200"/>
            <a:ext cx="5212080" cy="4572000"/>
          </a:xfrm>
          <a:prstGeom prst="rect">
            <a:avLst/>
          </a:prstGeom>
          <a:noFill/>
        </p:spPr>
        <p:txBody>
          <a:bodyPr wrap="square">
            <a:spAutoFit/>
          </a:bodyPr>
          <a:lstStyle/>
          <a:p>
            <a:r>
              <a:rPr sz="1200" b="0" i="0">
                <a:solidFill>
                  <a:srgbClr val="333333"/>
                </a:solidFill>
                <a:latin typeface="Calibri"/>
              </a:rPr>
              <a:t>Kubeflow Model Registry is a narrowly scoped model metadata store. Customers need a unified registry that covers models, experiments, datasets, and artifacts — with lineage, governance, and multi-tenancy built in.
MLflow / Unity Catalog OSS has emerged as the leading open-source candidate for this role. Multiple enterprise customers are already running MLflow and expect RHOAI to integrate with it rather than requiring migration to a proprietary registry.
Research the feasibility of moving Kubeflow Model Registry to MLFlow Model Registry
</a:t>
            </a:r>
          </a:p>
        </p:txBody>
      </p:sp>
      <p:sp>
        <p:nvSpPr>
          <p:cNvPr id="8" name="Rectangle 7"/>
          <p:cNvSpPr/>
          <p:nvPr/>
        </p:nvSpPr>
        <p:spPr>
          <a:xfrm>
            <a:off x="5989320" y="1234440"/>
            <a:ext cx="27432" cy="49377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234440"/>
            <a:ext cx="5394960" cy="365760"/>
          </a:xfrm>
          <a:prstGeom prst="rect">
            <a:avLst/>
          </a:prstGeom>
          <a:noFill/>
        </p:spPr>
        <p:txBody>
          <a:bodyPr wrap="square">
            <a:spAutoFit/>
          </a:bodyPr>
          <a:lstStyle/>
          <a:p>
            <a:r>
              <a:rPr sz="1300" b="1" i="0">
                <a:solidFill>
                  <a:srgbClr val="CC0000"/>
                </a:solidFill>
                <a:latin typeface="Calibri"/>
              </a:rPr>
              <a:t>Why this is ours to win</a:t>
            </a:r>
          </a:p>
        </p:txBody>
      </p:sp>
      <p:sp>
        <p:nvSpPr>
          <p:cNvPr id="10" name="TextBox 9"/>
          <p:cNvSpPr txBox="1"/>
          <p:nvPr/>
        </p:nvSpPr>
        <p:spPr>
          <a:xfrm>
            <a:off x="6126480" y="1600200"/>
            <a:ext cx="5394960" cy="4572000"/>
          </a:xfrm>
          <a:prstGeom prst="rect">
            <a:avLst/>
          </a:prstGeom>
          <a:noFill/>
        </p:spPr>
        <p:txBody>
          <a:bodyPr wrap="square">
            <a:spAutoFit/>
          </a:bodyPr>
          <a:lstStyle/>
          <a:p>
            <a:r>
              <a:rPr sz="1200" b="0" i="0">
                <a:solidFill>
                  <a:srgbClr val="333333"/>
                </a:solidFill>
                <a:latin typeface="Calibri"/>
              </a:rPr>
              <a:t>AI Hub owns Model Registry — and owns the migration path. Moving to MLflow as the backend means the team leads the architectural decision that shapes how RHOAI manages AI assets for the next 3+ years.
Current state: Tiger team research complete (RHOAIENG-50747). MLflow tracking store PR rebased upstream (RHOAIENG-31396). RFC in progress (RHOAIENG-57652). Next step: committing to a migration architecture and engineering plan.
Risk: Without a decision, teams continue building on top of Kubeflow Model Registry — accruing integration debt that becomes harder to migrate later.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Bet 2: MCP Registry — Model Context Protocol as a Platform Capability</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RHOAIENG-63382 / RHOAIENG-63350  ·  Tech Preview  ·  In Progress</a:t>
            </a:r>
          </a:p>
        </p:txBody>
      </p:sp>
      <p:sp>
        <p:nvSpPr>
          <p:cNvPr id="5" name="Rectangle 4"/>
          <p:cNvSpPr/>
          <p:nvPr/>
        </p:nvSpPr>
        <p:spPr>
          <a:xfrm>
            <a:off x="548640" y="1143000"/>
            <a:ext cx="1106424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5212080" cy="365760"/>
          </a:xfrm>
          <a:prstGeom prst="rect">
            <a:avLst/>
          </a:prstGeom>
          <a:noFill/>
        </p:spPr>
        <p:txBody>
          <a:bodyPr wrap="square">
            <a:spAutoFit/>
          </a:bodyPr>
          <a:lstStyle/>
          <a:p>
            <a:r>
              <a:rPr sz="1300" b="1" i="0">
                <a:solidFill>
                  <a:srgbClr val="CC0000"/>
                </a:solidFill>
                <a:latin typeface="Calibri"/>
              </a:rPr>
              <a:t>The market signal</a:t>
            </a:r>
          </a:p>
        </p:txBody>
      </p:sp>
      <p:sp>
        <p:nvSpPr>
          <p:cNvPr id="7" name="TextBox 6"/>
          <p:cNvSpPr txBox="1"/>
          <p:nvPr/>
        </p:nvSpPr>
        <p:spPr>
          <a:xfrm>
            <a:off x="548640" y="1600200"/>
            <a:ext cx="5212080" cy="4572000"/>
          </a:xfrm>
          <a:prstGeom prst="rect">
            <a:avLst/>
          </a:prstGeom>
          <a:noFill/>
        </p:spPr>
        <p:txBody>
          <a:bodyPr wrap="square">
            <a:spAutoFit/>
          </a:bodyPr>
          <a:lstStyle/>
          <a:p>
            <a:r>
              <a:rPr sz="1200" b="0" i="0">
                <a:solidFill>
                  <a:srgbClr val="333333"/>
                </a:solidFill>
                <a:latin typeface="Calibri"/>
              </a:rPr>
              <a:t>Model Context Protocol (MCP) is rapidly becoming the standard for how AI agents discover and invoke tools, APIs, and data sources. Customers building agentic AI workflows on RHOAI expect a platform-managed registry for MCP servers — not ad hoc configuration.
AI Hub is building this capability now: MCP server registration, versioning, RBAC, and Python SDK integration. Tech Preview is in progress.
For design, see the RFC:  https://github.com/mlflow/rfcs/blob/main/rfcs/0004-mcp-registry/0004-mcp-registry.md
For implementation, we’ll create PRs off of the  mcp-registry  feature branch:  https://github.com/mlflow/mlflow/tree/mcp-registry
</a:t>
            </a:r>
          </a:p>
        </p:txBody>
      </p:sp>
      <p:sp>
        <p:nvSpPr>
          <p:cNvPr id="8" name="Rectangle 7"/>
          <p:cNvSpPr/>
          <p:nvPr/>
        </p:nvSpPr>
        <p:spPr>
          <a:xfrm>
            <a:off x="5989320" y="1234440"/>
            <a:ext cx="27432" cy="49377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234440"/>
            <a:ext cx="5394960" cy="365760"/>
          </a:xfrm>
          <a:prstGeom prst="rect">
            <a:avLst/>
          </a:prstGeom>
          <a:noFill/>
        </p:spPr>
        <p:txBody>
          <a:bodyPr wrap="square">
            <a:spAutoFit/>
          </a:bodyPr>
          <a:lstStyle/>
          <a:p>
            <a:r>
              <a:rPr sz="1300" b="1" i="0">
                <a:solidFill>
                  <a:srgbClr val="CC0000"/>
                </a:solidFill>
                <a:latin typeface="Calibri"/>
              </a:rPr>
              <a:t>Why this is ours to win</a:t>
            </a:r>
          </a:p>
        </p:txBody>
      </p:sp>
      <p:sp>
        <p:nvSpPr>
          <p:cNvPr id="10" name="TextBox 9"/>
          <p:cNvSpPr txBox="1"/>
          <p:nvPr/>
        </p:nvSpPr>
        <p:spPr>
          <a:xfrm>
            <a:off x="6126480" y="1600200"/>
            <a:ext cx="5394960" cy="4572000"/>
          </a:xfrm>
          <a:prstGeom prst="rect">
            <a:avLst/>
          </a:prstGeom>
          <a:noFill/>
        </p:spPr>
        <p:txBody>
          <a:bodyPr wrap="square">
            <a:spAutoFit/>
          </a:bodyPr>
          <a:lstStyle/>
          <a:p>
            <a:r>
              <a:rPr sz="1200" b="0" i="0">
                <a:solidFill>
                  <a:srgbClr val="333333"/>
                </a:solidFill>
                <a:latin typeface="Calibri"/>
              </a:rPr>
              <a:t>AI Hub is positioned to own MCP Registry as a first-class platform service — the same way it owns Model Registry. This creates a natural extension of the Hub: a single place to discover models, artifacts, and now agentic tools.
Current state: Backend tasks in progress (RHOAIENG-63418 REST client in Review, RHOAIENG-63419 SDK in progress). RBAC and route permissions scoped (RHOAIENG-63421). Tech Preview targeted for 3.5.
Opportunity: If AI Hub ships MCP Registry at Tech Preview, it becomes the reference implementation for how RHOAI manages agentic infrastructure.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Bet 3: Decouple Model Catalog into an Independent Operator</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RHOAIENG-60367  ·  Major  ·  New — stories scoped, not yet started</a:t>
            </a:r>
          </a:p>
        </p:txBody>
      </p:sp>
      <p:sp>
        <p:nvSpPr>
          <p:cNvPr id="5" name="Rectangle 4"/>
          <p:cNvSpPr/>
          <p:nvPr/>
        </p:nvSpPr>
        <p:spPr>
          <a:xfrm>
            <a:off x="548640" y="1143000"/>
            <a:ext cx="1106424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5212080" cy="365760"/>
          </a:xfrm>
          <a:prstGeom prst="rect">
            <a:avLst/>
          </a:prstGeom>
          <a:noFill/>
        </p:spPr>
        <p:txBody>
          <a:bodyPr wrap="square">
            <a:spAutoFit/>
          </a:bodyPr>
          <a:lstStyle/>
          <a:p>
            <a:r>
              <a:rPr sz="1300" b="1" i="0">
                <a:solidFill>
                  <a:srgbClr val="CC0000"/>
                </a:solidFill>
                <a:latin typeface="Calibri"/>
              </a:rPr>
              <a:t>The market signal</a:t>
            </a:r>
          </a:p>
        </p:txBody>
      </p:sp>
      <p:sp>
        <p:nvSpPr>
          <p:cNvPr id="7" name="TextBox 6"/>
          <p:cNvSpPr txBox="1"/>
          <p:nvPr/>
        </p:nvSpPr>
        <p:spPr>
          <a:xfrm>
            <a:off x="548640" y="1600200"/>
            <a:ext cx="5212080" cy="4572000"/>
          </a:xfrm>
          <a:prstGeom prst="rect">
            <a:avLst/>
          </a:prstGeom>
          <a:noFill/>
        </p:spPr>
        <p:txBody>
          <a:bodyPr wrap="square">
            <a:spAutoFit/>
          </a:bodyPr>
          <a:lstStyle/>
          <a:p>
            <a:r>
              <a:rPr sz="1200" b="0" i="0">
                <a:solidFill>
                  <a:srgbClr val="333333"/>
                </a:solidFill>
                <a:latin typeface="Calibri"/>
              </a:rPr>
              <a:t>Model Catalog is currently embedded inside the model-registry-operator, creating tight coupling that limits independent releases, increases blast radius for catalog changes, and complicates the onboarding of new catalog sources (Hugging Face, OCI, partner catalogs).
Customers want to deploy and update the model catalog independently of the model registry. As catalog integrations grow — Eagle3, Xeon, text-embedding, Tool Calling defaults — the release cadence mismatch becomes a bottleneck.
Extract the catalog from  model-registry-operator  into a new  catalog-operator  with a  Catalog  CRD under  catalog.opendatahub.io/v1alpha1 , integrate it as a DSC component in the ODH operator, and remove the catalog code from  model-registry-operator .
</a:t>
            </a:r>
          </a:p>
        </p:txBody>
      </p:sp>
      <p:sp>
        <p:nvSpPr>
          <p:cNvPr id="8" name="Rectangle 7"/>
          <p:cNvSpPr/>
          <p:nvPr/>
        </p:nvSpPr>
        <p:spPr>
          <a:xfrm>
            <a:off x="5989320" y="1234440"/>
            <a:ext cx="27432" cy="49377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234440"/>
            <a:ext cx="5394960" cy="365760"/>
          </a:xfrm>
          <a:prstGeom prst="rect">
            <a:avLst/>
          </a:prstGeom>
          <a:noFill/>
        </p:spPr>
        <p:txBody>
          <a:bodyPr wrap="square">
            <a:spAutoFit/>
          </a:bodyPr>
          <a:lstStyle/>
          <a:p>
            <a:r>
              <a:rPr sz="1300" b="1" i="0">
                <a:solidFill>
                  <a:srgbClr val="CC0000"/>
                </a:solidFill>
                <a:latin typeface="Calibri"/>
              </a:rPr>
              <a:t>Why this is ours to win</a:t>
            </a:r>
          </a:p>
        </p:txBody>
      </p:sp>
      <p:sp>
        <p:nvSpPr>
          <p:cNvPr id="10" name="TextBox 9"/>
          <p:cNvSpPr txBox="1"/>
          <p:nvPr/>
        </p:nvSpPr>
        <p:spPr>
          <a:xfrm>
            <a:off x="6126480" y="1600200"/>
            <a:ext cx="5394960" cy="4572000"/>
          </a:xfrm>
          <a:prstGeom prst="rect">
            <a:avLst/>
          </a:prstGeom>
          <a:noFill/>
        </p:spPr>
        <p:txBody>
          <a:bodyPr wrap="square">
            <a:spAutoFit/>
          </a:bodyPr>
          <a:lstStyle/>
          <a:p>
            <a:r>
              <a:rPr sz="1200" b="0" i="0">
                <a:solidFill>
                  <a:srgbClr val="333333"/>
                </a:solidFill>
                <a:latin typeface="Calibri"/>
              </a:rPr>
              <a:t>Decoupling the catalog gives AI Hub independent release velocity for the fastest-moving part of the product — new model integrations, catalog sources, and discovery features — without waiting on model registry release cycles.
The architecture is already designed: catalog-operator with its own CRD, bootstrapped with kubebuilder scaffold (RHOAIENG-60372). Four stories fully scoped and ready to start.
This also sets the foundation for the MLflow migration — a decoupled catalog can adopt a new registry backend without a full platform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What We Need</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Portfolio map  ·  Traction  ·  Strategic opportunities</a:t>
            </a:r>
          </a:p>
        </p:txBody>
      </p:sp>
      <p:sp>
        <p:nvSpPr>
          <p:cNvPr id="5" name="TextBox 4"/>
          <p:cNvSpPr txBox="1"/>
          <p:nvPr/>
        </p:nvSpPr>
        <p:spPr>
          <a:xfrm>
            <a:off x="457200" y="1188720"/>
            <a:ext cx="11247120" cy="5303520"/>
          </a:xfrm>
          <a:prstGeom prst="rect">
            <a:avLst/>
          </a:prstGeom>
          <a:noFill/>
        </p:spPr>
        <p:txBody>
          <a:bodyPr wrap="square">
            <a:spAutoFit/>
          </a:bodyPr>
          <a:lstStyle/>
          <a:p>
            <a:pPr>
              <a:spcAft>
                <a:spcPts val="1000"/>
              </a:spcAft>
            </a:pPr>
            <a:r>
              <a:rPr sz="1300" b="1">
                <a:solidFill>
                  <a:srgbClr val="333333"/>
                </a:solidFill>
                <a:latin typeface="Calibri"/>
              </a:rPr>
              <a:t>1.  MLflow architecture decision  </a:t>
            </a:r>
            <a:r>
              <a:rPr sz="1300">
                <a:solidFill>
                  <a:srgbClr val="333333"/>
                </a:solidFill>
                <a:latin typeface="Calibri"/>
              </a:rPr>
              <a:t>Tiger team research is complete. Need leadership alignment to commit to MLflow / Unity Catalog as the registry backend — or explicitly decide to stay on Kubeflow MR. Delay accrues integration debt.</a:t>
            </a:r>
          </a:p>
          <a:p>
            <a:pPr>
              <a:spcAft>
                <a:spcPts val="1000"/>
              </a:spcAft>
            </a:pPr>
            <a:r>
              <a:rPr sz="1300" b="1">
                <a:solidFill>
                  <a:srgbClr val="333333"/>
                </a:solidFill>
                <a:latin typeface="Calibri"/>
              </a:rPr>
              <a:t>2.  MCP Registry Tech Preview resourcing  </a:t>
            </a:r>
            <a:r>
              <a:rPr sz="1300">
                <a:solidFill>
                  <a:srgbClr val="333333"/>
                </a:solidFill>
                <a:latin typeface="Calibri"/>
              </a:rPr>
              <a:t>RHOAIENG-63382 backend work is in progress but scoped narrowly. Need dedicated capacity to complete RBAC, SDK, and QE requirements before the 3.5 TP window closes.</a:t>
            </a:r>
          </a:p>
          <a:p>
            <a:pPr>
              <a:spcAft>
                <a:spcPts val="1000"/>
              </a:spcAft>
            </a:pPr>
            <a:r>
              <a:rPr sz="1300" b="1">
                <a:solidFill>
                  <a:srgbClr val="333333"/>
                </a:solidFill>
                <a:latin typeface="Calibri"/>
              </a:rPr>
              <a:t>3.  CVE &amp; security backlog  </a:t>
            </a:r>
            <a:r>
              <a:rPr sz="1300">
                <a:solidFill>
                  <a:srgbClr val="333333"/>
                </a:solidFill>
                <a:latin typeface="Calibri"/>
              </a:rPr>
              <a:t>10 open CVEs and vulnerabilities — including embargoed issues. Async upload job hermetic build failures are blocking several CVE fixes. Need infra support to unblock hermetic builds.</a:t>
            </a:r>
          </a:p>
          <a:p>
            <a:pPr>
              <a:spcAft>
                <a:spcPts val="1000"/>
              </a:spcAft>
            </a:pPr>
            <a:r>
              <a:rPr sz="1300" b="1">
                <a:solidFill>
                  <a:srgbClr val="333333"/>
                </a:solidFill>
                <a:latin typeface="Calibri"/>
              </a:rPr>
              <a:t>4.  Priority triage  </a:t>
            </a:r>
            <a:r>
              <a:rPr sz="1300">
                <a:solidFill>
                  <a:srgbClr val="333333"/>
                </a:solidFill>
                <a:latin typeface="Calibri"/>
              </a:rPr>
              <a:t>121 issues (56% of portfolio) have Undefined priority. Reporting, sprint planning, and escalation paths are all unreliable until these are triaged.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0"/>
            <a:ext cx="10972800" cy="914400"/>
          </a:xfrm>
          <a:prstGeom prst="rect">
            <a:avLst/>
          </a:prstGeom>
          <a:noFill/>
        </p:spPr>
        <p:txBody>
          <a:bodyPr wrap="square">
            <a:spAutoFit/>
          </a:bodyPr>
          <a:lstStyle/>
          <a:p>
            <a:r>
              <a:rPr sz="4400" b="1" i="0">
                <a:solidFill>
                  <a:srgbClr val="333333"/>
                </a:solidFill>
                <a:latin typeface="Calibri"/>
              </a:rPr>
              <a:t>Thank you</a:t>
            </a:r>
          </a:p>
        </p:txBody>
      </p:sp>
      <p:sp>
        <p:nvSpPr>
          <p:cNvPr id="4" name="TextBox 3"/>
          <p:cNvSpPr txBox="1"/>
          <p:nvPr/>
        </p:nvSpPr>
        <p:spPr>
          <a:xfrm>
            <a:off x="548640" y="3200400"/>
            <a:ext cx="10972800" cy="640080"/>
          </a:xfrm>
          <a:prstGeom prst="rect">
            <a:avLst/>
          </a:prstGeom>
          <a:noFill/>
        </p:spPr>
        <p:txBody>
          <a:bodyPr wrap="square">
            <a:spAutoFit/>
          </a:bodyPr>
          <a:lstStyle/>
          <a:p>
            <a:r>
              <a:rPr sz="2800" b="0" i="0">
                <a:solidFill>
                  <a:srgbClr val="CC0000"/>
                </a:solidFill>
                <a:latin typeface="Calibri"/>
              </a:rPr>
              <a:t>Open discussion</a:t>
            </a:r>
          </a:p>
        </p:txBody>
      </p:sp>
      <p:sp>
        <p:nvSpPr>
          <p:cNvPr id="5" name="TextBox 4"/>
          <p:cNvSpPr txBox="1"/>
          <p:nvPr/>
        </p:nvSpPr>
        <p:spPr>
          <a:xfrm>
            <a:off x="548640" y="3931920"/>
            <a:ext cx="10972800" cy="457200"/>
          </a:xfrm>
          <a:prstGeom prst="rect">
            <a:avLst/>
          </a:prstGeom>
          <a:noFill/>
        </p:spPr>
        <p:txBody>
          <a:bodyPr wrap="square">
            <a:spAutoFit/>
          </a:bodyPr>
          <a:lstStyle/>
          <a:p>
            <a:r>
              <a:rPr sz="1600" b="0" i="1">
                <a:solidFill>
                  <a:srgbClr val="666666"/>
                </a:solidFill>
                <a:latin typeface="Calibri"/>
              </a:rPr>
              <a:t>What questions do you have?  Where should we go deeper?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